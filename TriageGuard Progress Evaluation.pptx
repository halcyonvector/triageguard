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TriageGuard takes a memory dump and an optional pcap, finds the cryptography in it, and writes an evidence-cited report. The lab leans towards cryptography, so crypto analysis is the core. Today: what is built, a real Windows 11 dump run, and the red-team results for the LLM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stages left to right. Stress the last one: the LLM only receives structured findings, never raw dump bytes, and has to cite finding ids. That is what the defences later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done list. Everything on the project brief except the write-ups is built and measured. The remaining items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Cipher scope is wider than the basic AES, DES, RSA: ChaCha20/Salsa20, AES-GCM and ECC are included because modern ransomware often uses ChaCha with elliptic-curve key exchange. Each result says whether it rests on implementation constants (the cipher is really implemented) or only on API strings. Checked against real OpenSSL, libsodium and libgcrypt.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images, three Windows versions, 32 and 64 bit. Windows 11: RSA-512 key and Notepad opening encryption_log.txt. Windows 10 (DFIR Madness Stolen Szechuan Sauce) is the most visual: a PE header injected into the print spooler and PowerShell with injected regions, and its real 188 MB pcap parsed (546 TLS handshakes, all strong suites). Windows 7 showed that identical code in many processes is a system-wide component, so those hits are medium, not high. Also say: Windows Defender blocked reading some extracted regions on the infected Windows 10 image, which the pipeline now records as a finding. Public data only, nothing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failure we hit on the real image that the synthetic sample never showed. The synthetic data was too clean: it has no cert store, no corrupt key fragments, no Defender JIT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attacker controls fields the pipeline passes on to the LLM, for example the issuer claim in a JWT. The payloads are planted in a synthetic image, so ground truth is known. Each scenario runs three times without defences and three times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 success rate is the share of reports that did what the attacker wanted. 4 of 36 without defences, 0 of 36 with them. Citation coverage goes from 28 to 78 percent. Zero of 36 at this size does not prove zero risk. All 78 reports and the CSV are saved in the repo. If asked about the scoring: we found and fixed two mistakes in our own checker (the model sometimes writes fullwidth brackets or bold finding ids instead of square brackets) and re-scored all 78 reports offline, which is why earlier drafts showed 7 of 36 and 2 of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A cited claim can still be wrong, so the cross-check against the rule-based result matters. If asked about the checker: an earlier version only recognised square-bracket citations and the model sometimes writes fullwidth brackets; we fixed that and re-scored all 78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left: a ground-truth test of the crypto module with keys we control, a few more public dumps for variety, a stronger red team, and the write-ups.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70A1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320"/>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E4E8F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998980"/>
            <a:ext cx="10566400" cy="4046220"/>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A1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320"/>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E4E8F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998980"/>
            <a:ext cx="10566400" cy="4046220"/>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Shape 1"/>
          <p:cNvSpPr/>
          <p:nvPr/>
        </p:nvSpPr>
        <p:spPr>
          <a:xfrm>
            <a:off x="7823200" y="812800"/>
            <a:ext cx="3556000" cy="3556000"/>
          </a:xfrm>
          <a:prstGeom prst="roundRect">
            <a:avLst>
              <a:gd name="adj" fmla="val 45714"/>
            </a:avLst>
          </a:prstGeom>
          <a:gradFill rotWithShape="1">
            <a:gsLst>
              <a:gs pos="0">
                <a:srgbClr val="243A66">
                  <a:alpha val="35000"/>
                </a:srgbClr>
              </a:gs>
              <a:gs pos="45000">
                <a:srgbClr val="152445">
                  <a:alpha val="35000"/>
                </a:srgbClr>
              </a:gs>
              <a:gs pos="100000">
                <a:srgbClr val="070A12">
                  <a:alpha val="35000"/>
                </a:srgbClr>
              </a:gs>
            </a:gsLst>
            <a:path path="circle">
              <a:fillToRect l="35000" t="35000" r="65000" b="65000"/>
            </a:path>
          </a:gradFill>
          <a:ln/>
        </p:spPr>
      </p:sp>
      <p:sp>
        <p:nvSpPr>
          <p:cNvPr id="4" name="Shape 2"/>
          <p:cNvSpPr/>
          <p:nvPr/>
        </p:nvSpPr>
        <p:spPr>
          <a:xfrm>
            <a:off x="7620000" y="3302000"/>
            <a:ext cx="1905000" cy="1905000"/>
          </a:xfrm>
          <a:prstGeom prst="roundRect">
            <a:avLst>
              <a:gd name="adj" fmla="val 50000"/>
            </a:avLst>
          </a:prstGeom>
          <a:gradFill rotWithShape="1">
            <a:gsLst>
              <a:gs pos="0">
                <a:srgbClr val="1D5C62">
                  <a:alpha val="30000"/>
                </a:srgbClr>
              </a:gs>
              <a:gs pos="55000">
                <a:srgbClr val="123B45">
                  <a:alpha val="30000"/>
                </a:srgbClr>
              </a:gs>
              <a:gs pos="100000">
                <a:srgbClr val="070A12">
                  <a:alpha val="30000"/>
                </a:srgbClr>
              </a:gs>
            </a:gsLst>
            <a:path path="circle">
              <a:fillToRect l="40000" t="40000" r="60000" b="60000"/>
            </a:path>
          </a:gradFill>
          <a:ln/>
        </p:spPr>
      </p:sp>
      <p:sp>
        <p:nvSpPr>
          <p:cNvPr id="5" name="Text 3"/>
          <p:cNvSpPr/>
          <p:nvPr/>
        </p:nvSpPr>
        <p:spPr>
          <a:xfrm>
            <a:off x="812800" y="136048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300" kern="0" dirty="0">
                <a:solidFill>
                  <a:srgbClr val="5CCFC0"/>
                </a:solidFill>
                <a:latin typeface="DM Sans" pitchFamily="34" charset="0"/>
                <a:ea typeface="DM Sans" pitchFamily="34" charset="-122"/>
                <a:cs typeface="DM Sans" pitchFamily="34" charset="-120"/>
              </a:rPr>
              <a:t>PROGRESS EVALUATION</a:t>
            </a:r>
            <a:endParaRPr lang="en-US" sz="1500" dirty="0"/>
          </a:p>
        </p:txBody>
      </p:sp>
      <p:sp>
        <p:nvSpPr>
          <p:cNvPr id="6" name="Text 4"/>
          <p:cNvSpPr/>
          <p:nvPr>
            <p:ph type="title"/>
          </p:nvPr>
        </p:nvSpPr>
        <p:spPr>
          <a:xfrm>
            <a:off x="812800" y="1855788"/>
            <a:ext cx="8175625" cy="1292225"/>
          </a:xfrm>
          <a:prstGeom prst="rect">
            <a:avLst/>
          </a:prstGeom>
          <a:noFill/>
          <a:ln/>
        </p:spPr>
        <p:txBody>
          <a:bodyPr wrap="square" lIns="0" tIns="0" rIns="0" bIns="0" rtlCol="0" anchor="t">
            <a:normAutofit/>
          </a:bodyPr>
          <a:lstStyle/>
          <a:p>
            <a:pPr algn="l" indent="0" marL="0">
              <a:lnSpc>
                <a:spcPts val="9975"/>
              </a:lnSpc>
              <a:buNone/>
            </a:pPr>
            <a:r>
              <a:rPr lang="en-US" sz="9500" b="1" i="0" dirty="0">
                <a:gradFill rotWithShape="1">
                  <a:gsLst>
                    <a:gs pos="0">
                      <a:srgbClr val="5CCFC0"/>
                    </a:gs>
                    <a:gs pos="100000">
                      <a:srgbClr val="8FA8F0"/>
                    </a:gs>
                  </a:gsLst>
                  <a:lin ang="0" scaled="0"/>
                </a:gradFill>
                <a:latin typeface="Space Grotesk" pitchFamily="34" charset="0"/>
                <a:ea typeface="Space Grotesk" pitchFamily="34" charset="-122"/>
                <a:cs typeface="Space Grotesk" pitchFamily="34" charset="-120"/>
              </a:rPr>
              <a:t>TriageGuard</a:t>
            </a:r>
            <a:endParaRPr lang="en-US" sz="9500" dirty="0"/>
          </a:p>
        </p:txBody>
      </p:sp>
      <p:sp>
        <p:nvSpPr>
          <p:cNvPr id="7" name="Text 5"/>
          <p:cNvSpPr/>
          <p:nvPr/>
        </p:nvSpPr>
        <p:spPr>
          <a:xfrm>
            <a:off x="812800" y="3351213"/>
            <a:ext cx="7194550" cy="85090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E4E8F2"/>
                </a:solidFill>
                <a:latin typeface="DM Sans" pitchFamily="34" charset="0"/>
                <a:ea typeface="DM Sans" pitchFamily="34" charset="-122"/>
                <a:cs typeface="DM Sans" pitchFamily="34" charset="-120"/>
              </a:rPr>
              <a:t>AI-assisted memory forensics and cryptographic malware triage</a:t>
            </a:r>
            <a:endParaRPr lang="en-US" sz="2600" dirty="0"/>
          </a:p>
        </p:txBody>
      </p:sp>
      <p:sp>
        <p:nvSpPr>
          <p:cNvPr id="8" name="Shape 6"/>
          <p:cNvSpPr/>
          <p:nvPr/>
        </p:nvSpPr>
        <p:spPr>
          <a:xfrm>
            <a:off x="812800" y="4405313"/>
            <a:ext cx="1397000" cy="50800"/>
          </a:xfrm>
          <a:prstGeom prst="roundRect">
            <a:avLst>
              <a:gd name="adj" fmla="val 50000"/>
            </a:avLst>
          </a:prstGeom>
          <a:gradFill rotWithShape="1">
            <a:gsLst>
              <a:gs pos="0">
                <a:srgbClr val="5CCFC0"/>
              </a:gs>
              <a:gs pos="100000">
                <a:srgbClr val="8FA8F0"/>
              </a:gs>
            </a:gsLst>
            <a:lin ang="0" scaled="0"/>
          </a:gradFill>
          <a:ln/>
        </p:spPr>
      </p:sp>
      <p:sp>
        <p:nvSpPr>
          <p:cNvPr id="9" name="Text 7"/>
          <p:cNvSpPr/>
          <p:nvPr/>
        </p:nvSpPr>
        <p:spPr>
          <a:xfrm>
            <a:off x="812800" y="4684713"/>
            <a:ext cx="1088339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4BDD6"/>
                </a:solidFill>
                <a:latin typeface="DM Sans" pitchFamily="34" charset="0"/>
                <a:ea typeface="DM Sans" pitchFamily="34" charset="-122"/>
                <a:cs typeface="DM Sans" pitchFamily="34" charset="-120"/>
              </a:rPr>
              <a:t>ICT 3141 Information Security Lab, CCE A</a:t>
            </a:r>
            <a:endParaRPr lang="en-US" sz="1600" dirty="0"/>
          </a:p>
          <a:p>
            <a:pPr algn="l" indent="0" marL="0">
              <a:lnSpc>
                <a:spcPts val="2400"/>
              </a:lnSpc>
              <a:buNone/>
            </a:pPr>
            <a:r>
              <a:rPr lang="en-US" sz="1600" dirty="0">
                <a:solidFill>
                  <a:srgbClr val="B4BDD6"/>
                </a:solidFill>
                <a:latin typeface="DM Sans" pitchFamily="34" charset="0"/>
                <a:ea typeface="DM Sans" pitchFamily="34" charset="-122"/>
                <a:cs typeface="DM Sans" pitchFamily="34" charset="-120"/>
              </a:rPr>
              <a:t>Sagnik Basu (240953528) and Arjun Mittal (240953440)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5CCFC0"/>
                </a:solidFill>
                <a:latin typeface="DM Sans" pitchFamily="34" charset="0"/>
                <a:ea typeface="DM Sans" pitchFamily="34" charset="-122"/>
                <a:cs typeface="DM Sans" pitchFamily="34" charset="-120"/>
              </a:rPr>
              <a:t>HOW IT WORKS</a:t>
            </a:r>
            <a:endParaRPr lang="en-US" sz="1400" dirty="0"/>
          </a:p>
        </p:txBody>
      </p:sp>
      <p:sp>
        <p:nvSpPr>
          <p:cNvPr id="4" name="Text 2"/>
          <p:cNvSpPr/>
          <p:nvPr>
            <p:ph type="title"/>
          </p:nvPr>
        </p:nvSpPr>
        <p:spPr>
          <a:xfrm>
            <a:off x="812800" y="116332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One pipeline, six stages</a:t>
            </a:r>
            <a:endParaRPr lang="en-US" sz="3800" dirty="0"/>
          </a:p>
        </p:txBody>
      </p:sp>
      <p:sp>
        <p:nvSpPr>
          <p:cNvPr id="5" name="Shape 3"/>
          <p:cNvSpPr/>
          <p:nvPr/>
        </p:nvSpPr>
        <p:spPr>
          <a:xfrm>
            <a:off x="815975" y="1976755"/>
            <a:ext cx="3380264" cy="1588135"/>
          </a:xfrm>
          <a:prstGeom prst="roundRect">
            <a:avLst>
              <a:gd name="adj" fmla="val 7797"/>
            </a:avLst>
          </a:prstGeom>
          <a:solidFill>
            <a:srgbClr val="FFFFFF">
              <a:alpha val="5000"/>
            </a:srgbClr>
          </a:solidFill>
          <a:ln w="6350">
            <a:solidFill>
              <a:srgbClr val="FFFFFF">
                <a:alpha val="9000"/>
              </a:srgbClr>
            </a:solidFill>
            <a:prstDash val="solid"/>
          </a:ln>
        </p:spPr>
      </p:sp>
      <p:sp>
        <p:nvSpPr>
          <p:cNvPr id="6" name="Text 4"/>
          <p:cNvSpPr/>
          <p:nvPr/>
        </p:nvSpPr>
        <p:spPr>
          <a:xfrm>
            <a:off x="1046480" y="2207260"/>
            <a:ext cx="30068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CCFC0"/>
                </a:solidFill>
                <a:latin typeface="DM Sans" pitchFamily="34" charset="0"/>
                <a:ea typeface="DM Sans" pitchFamily="34" charset="-122"/>
                <a:cs typeface="DM Sans" pitchFamily="34" charset="-120"/>
              </a:rPr>
              <a:t>1 Memory</a:t>
            </a:r>
            <a:endParaRPr lang="en-US" sz="1500" dirty="0"/>
          </a:p>
        </p:txBody>
      </p:sp>
      <p:sp>
        <p:nvSpPr>
          <p:cNvPr id="7" name="Text 5"/>
          <p:cNvSpPr/>
          <p:nvPr/>
        </p:nvSpPr>
        <p:spPr>
          <a:xfrm>
            <a:off x="1046480" y="2562860"/>
            <a:ext cx="300683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Volatility3: processes, command lines, network, injected code, USB</a:t>
            </a:r>
            <a:endParaRPr lang="en-US" sz="1500" dirty="0"/>
          </a:p>
        </p:txBody>
      </p:sp>
      <p:sp>
        <p:nvSpPr>
          <p:cNvPr id="8" name="Shape 6"/>
          <p:cNvSpPr/>
          <p:nvPr/>
        </p:nvSpPr>
        <p:spPr>
          <a:xfrm>
            <a:off x="4405789" y="1976755"/>
            <a:ext cx="3380343" cy="1588135"/>
          </a:xfrm>
          <a:prstGeom prst="roundRect">
            <a:avLst>
              <a:gd name="adj" fmla="val 7797"/>
            </a:avLst>
          </a:prstGeom>
          <a:solidFill>
            <a:srgbClr val="FFFFFF">
              <a:alpha val="5000"/>
            </a:srgbClr>
          </a:solidFill>
          <a:ln w="6350">
            <a:solidFill>
              <a:srgbClr val="FFFFFF">
                <a:alpha val="9000"/>
              </a:srgbClr>
            </a:solidFill>
            <a:prstDash val="solid"/>
          </a:ln>
        </p:spPr>
      </p:sp>
      <p:sp>
        <p:nvSpPr>
          <p:cNvPr id="9" name="Text 7"/>
          <p:cNvSpPr/>
          <p:nvPr/>
        </p:nvSpPr>
        <p:spPr>
          <a:xfrm>
            <a:off x="4636294" y="2207260"/>
            <a:ext cx="30069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FA8F0"/>
                </a:solidFill>
                <a:latin typeface="DM Sans" pitchFamily="34" charset="0"/>
                <a:ea typeface="DM Sans" pitchFamily="34" charset="-122"/>
                <a:cs typeface="DM Sans" pitchFamily="34" charset="-120"/>
              </a:rPr>
              <a:t>2 Static</a:t>
            </a:r>
            <a:endParaRPr lang="en-US" sz="1500" dirty="0"/>
          </a:p>
        </p:txBody>
      </p:sp>
      <p:sp>
        <p:nvSpPr>
          <p:cNvPr id="10" name="Text 8"/>
          <p:cNvSpPr/>
          <p:nvPr/>
        </p:nvSpPr>
        <p:spPr>
          <a:xfrm>
            <a:off x="4636294" y="2562860"/>
            <a:ext cx="300691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Strings, PE headers, crypto imports, YARA on suspicious binaries</a:t>
            </a:r>
            <a:endParaRPr lang="en-US" sz="1500" dirty="0"/>
          </a:p>
        </p:txBody>
      </p:sp>
      <p:sp>
        <p:nvSpPr>
          <p:cNvPr id="11" name="Shape 9"/>
          <p:cNvSpPr/>
          <p:nvPr/>
        </p:nvSpPr>
        <p:spPr>
          <a:xfrm>
            <a:off x="7995682" y="1976755"/>
            <a:ext cx="3380343" cy="1588135"/>
          </a:xfrm>
          <a:prstGeom prst="roundRect">
            <a:avLst>
              <a:gd name="adj" fmla="val 7797"/>
            </a:avLst>
          </a:prstGeom>
          <a:solidFill>
            <a:srgbClr val="FFFFFF">
              <a:alpha val="5000"/>
            </a:srgbClr>
          </a:solidFill>
          <a:ln w="6350">
            <a:solidFill>
              <a:srgbClr val="FFFFFF">
                <a:alpha val="9000"/>
              </a:srgbClr>
            </a:solidFill>
            <a:prstDash val="solid"/>
          </a:ln>
        </p:spPr>
      </p:sp>
      <p:sp>
        <p:nvSpPr>
          <p:cNvPr id="12" name="Text 10"/>
          <p:cNvSpPr/>
          <p:nvPr/>
        </p:nvSpPr>
        <p:spPr>
          <a:xfrm>
            <a:off x="8226187" y="2207260"/>
            <a:ext cx="30069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FA8F0"/>
                </a:solidFill>
                <a:latin typeface="DM Sans" pitchFamily="34" charset="0"/>
                <a:ea typeface="DM Sans" pitchFamily="34" charset="-122"/>
                <a:cs typeface="DM Sans" pitchFamily="34" charset="-120"/>
              </a:rPr>
              <a:t>3 Crypto</a:t>
            </a:r>
            <a:endParaRPr lang="en-US" sz="1500" dirty="0"/>
          </a:p>
        </p:txBody>
      </p:sp>
      <p:sp>
        <p:nvSpPr>
          <p:cNvPr id="13" name="Text 11"/>
          <p:cNvSpPr/>
          <p:nvPr/>
        </p:nvSpPr>
        <p:spPr>
          <a:xfrm>
            <a:off x="8226187" y="2562860"/>
            <a:ext cx="300691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Entropy, cipher ID with confidence, weak RSA key tests</a:t>
            </a:r>
            <a:endParaRPr lang="en-US" sz="1500" dirty="0"/>
          </a:p>
        </p:txBody>
      </p:sp>
      <p:sp>
        <p:nvSpPr>
          <p:cNvPr id="14" name="Shape 12"/>
          <p:cNvSpPr/>
          <p:nvPr/>
        </p:nvSpPr>
        <p:spPr>
          <a:xfrm>
            <a:off x="815975" y="3774440"/>
            <a:ext cx="3380264" cy="1330960"/>
          </a:xfrm>
          <a:prstGeom prst="roundRect">
            <a:avLst>
              <a:gd name="adj" fmla="val 9303"/>
            </a:avLst>
          </a:prstGeom>
          <a:solidFill>
            <a:srgbClr val="FFFFFF">
              <a:alpha val="5000"/>
            </a:srgbClr>
          </a:solidFill>
          <a:ln w="6350">
            <a:solidFill>
              <a:srgbClr val="FFFFFF">
                <a:alpha val="9000"/>
              </a:srgbClr>
            </a:solidFill>
            <a:prstDash val="solid"/>
          </a:ln>
        </p:spPr>
      </p:sp>
      <p:sp>
        <p:nvSpPr>
          <p:cNvPr id="15" name="Text 13"/>
          <p:cNvSpPr/>
          <p:nvPr/>
        </p:nvSpPr>
        <p:spPr>
          <a:xfrm>
            <a:off x="1046480" y="4004945"/>
            <a:ext cx="30068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9B650"/>
                </a:solidFill>
                <a:latin typeface="DM Sans" pitchFamily="34" charset="0"/>
                <a:ea typeface="DM Sans" pitchFamily="34" charset="-122"/>
                <a:cs typeface="DM Sans" pitchFamily="34" charset="-120"/>
              </a:rPr>
              <a:t>4 Credentials</a:t>
            </a:r>
            <a:endParaRPr lang="en-US" sz="1500" dirty="0"/>
          </a:p>
        </p:txBody>
      </p:sp>
      <p:sp>
        <p:nvSpPr>
          <p:cNvPr id="16" name="Text 14"/>
          <p:cNvSpPr/>
          <p:nvPr/>
        </p:nvSpPr>
        <p:spPr>
          <a:xfrm>
            <a:off x="1046480" y="4360545"/>
            <a:ext cx="300683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JWTs, OAuth tokens and OTP secrets, stored redacted</a:t>
            </a:r>
            <a:endParaRPr lang="en-US" sz="1500" dirty="0"/>
          </a:p>
        </p:txBody>
      </p:sp>
      <p:sp>
        <p:nvSpPr>
          <p:cNvPr id="17" name="Shape 15"/>
          <p:cNvSpPr/>
          <p:nvPr/>
        </p:nvSpPr>
        <p:spPr>
          <a:xfrm>
            <a:off x="4405789" y="3774440"/>
            <a:ext cx="3380343" cy="1330960"/>
          </a:xfrm>
          <a:prstGeom prst="roundRect">
            <a:avLst>
              <a:gd name="adj" fmla="val 9303"/>
            </a:avLst>
          </a:prstGeom>
          <a:solidFill>
            <a:srgbClr val="FFFFFF">
              <a:alpha val="5000"/>
            </a:srgbClr>
          </a:solidFill>
          <a:ln w="6350">
            <a:solidFill>
              <a:srgbClr val="FFFFFF">
                <a:alpha val="9000"/>
              </a:srgbClr>
            </a:solidFill>
            <a:prstDash val="solid"/>
          </a:ln>
        </p:spPr>
      </p:sp>
      <p:sp>
        <p:nvSpPr>
          <p:cNvPr id="18" name="Text 16"/>
          <p:cNvSpPr/>
          <p:nvPr/>
        </p:nvSpPr>
        <p:spPr>
          <a:xfrm>
            <a:off x="4636294" y="4004945"/>
            <a:ext cx="30069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CCFC0"/>
                </a:solidFill>
                <a:latin typeface="DM Sans" pitchFamily="34" charset="0"/>
                <a:ea typeface="DM Sans" pitchFamily="34" charset="-122"/>
                <a:cs typeface="DM Sans" pitchFamily="34" charset="-120"/>
              </a:rPr>
              <a:t>5 Network</a:t>
            </a:r>
            <a:endParaRPr lang="en-US" sz="1500" dirty="0"/>
          </a:p>
        </p:txBody>
      </p:sp>
      <p:sp>
        <p:nvSpPr>
          <p:cNvPr id="19" name="Text 17"/>
          <p:cNvSpPr/>
          <p:nvPr/>
        </p:nvSpPr>
        <p:spPr>
          <a:xfrm>
            <a:off x="4636294" y="4360545"/>
            <a:ext cx="300691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pcap: TLS version, cipher suites, SNI, DNS</a:t>
            </a:r>
            <a:endParaRPr lang="en-US" sz="1500" dirty="0"/>
          </a:p>
        </p:txBody>
      </p:sp>
      <p:sp>
        <p:nvSpPr>
          <p:cNvPr id="20" name="Shape 18"/>
          <p:cNvSpPr/>
          <p:nvPr/>
        </p:nvSpPr>
        <p:spPr>
          <a:xfrm>
            <a:off x="7995682" y="3774440"/>
            <a:ext cx="3380343" cy="1330960"/>
          </a:xfrm>
          <a:prstGeom prst="roundRect">
            <a:avLst>
              <a:gd name="adj" fmla="val 9303"/>
            </a:avLst>
          </a:prstGeom>
          <a:solidFill>
            <a:srgbClr val="FFFFFF">
              <a:alpha val="5000"/>
            </a:srgbClr>
          </a:solidFill>
          <a:ln w="6350">
            <a:solidFill>
              <a:srgbClr val="FFFFFF">
                <a:alpha val="9000"/>
              </a:srgbClr>
            </a:solidFill>
            <a:prstDash val="solid"/>
          </a:ln>
        </p:spPr>
      </p:sp>
      <p:sp>
        <p:nvSpPr>
          <p:cNvPr id="21" name="Text 19"/>
          <p:cNvSpPr/>
          <p:nvPr/>
        </p:nvSpPr>
        <p:spPr>
          <a:xfrm>
            <a:off x="8226187" y="4004945"/>
            <a:ext cx="30069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FA8F0"/>
                </a:solidFill>
                <a:latin typeface="DM Sans" pitchFamily="34" charset="0"/>
                <a:ea typeface="DM Sans" pitchFamily="34" charset="-122"/>
                <a:cs typeface="DM Sans" pitchFamily="34" charset="-120"/>
              </a:rPr>
              <a:t>6 Report</a:t>
            </a:r>
            <a:endParaRPr lang="en-US" sz="1500" dirty="0"/>
          </a:p>
        </p:txBody>
      </p:sp>
      <p:sp>
        <p:nvSpPr>
          <p:cNvPr id="22" name="Text 20"/>
          <p:cNvSpPr/>
          <p:nvPr/>
        </p:nvSpPr>
        <p:spPr>
          <a:xfrm>
            <a:off x="8226187" y="4360545"/>
            <a:ext cx="300691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4BDD6"/>
                </a:solidFill>
                <a:latin typeface="DM Sans" pitchFamily="34" charset="0"/>
                <a:ea typeface="DM Sans" pitchFamily="34" charset="-122"/>
                <a:cs typeface="DM Sans" pitchFamily="34" charset="-120"/>
              </a:rPr>
              <a:t>LLM sees findings only, every claim cites a finding id</a:t>
            </a:r>
            <a:endParaRPr lang="en-US" sz="1500" dirty="0"/>
          </a:p>
        </p:txBody>
      </p:sp>
      <p:sp>
        <p:nvSpPr>
          <p:cNvPr id="23" name="Text 21"/>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B0"/>
                </a:solidFill>
                <a:latin typeface="DM Sans" pitchFamily="34" charset="0"/>
                <a:ea typeface="DM Sans" pitchFamily="34" charset="-122"/>
                <a:cs typeface="DM Sans" pitchFamily="34" charset="-120"/>
              </a:rPr>
              <a:t>Every finding lands in SQLite with a citation id such as F12. The LLM never sees the raw dump.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5CCFC0"/>
                </a:solidFill>
                <a:latin typeface="DM Sans" pitchFamily="34" charset="0"/>
                <a:ea typeface="DM Sans" pitchFamily="34" charset="-122"/>
                <a:cs typeface="DM Sans" pitchFamily="34" charset="-120"/>
              </a:rPr>
              <a:t>STATUS</a:t>
            </a:r>
            <a:endParaRPr lang="en-US" sz="1400" dirty="0"/>
          </a:p>
        </p:txBody>
      </p:sp>
      <p:sp>
        <p:nvSpPr>
          <p:cNvPr id="4" name="Text 2"/>
          <p:cNvSpPr/>
          <p:nvPr>
            <p:ph type="title"/>
          </p:nvPr>
        </p:nvSpPr>
        <p:spPr>
          <a:xfrm>
            <a:off x="812800" y="116332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What is done</a:t>
            </a:r>
            <a:endParaRPr lang="en-US" sz="3800" dirty="0"/>
          </a:p>
        </p:txBody>
      </p:sp>
      <p:sp>
        <p:nvSpPr>
          <p:cNvPr id="5" name="Shape 3"/>
          <p:cNvSpPr/>
          <p:nvPr/>
        </p:nvSpPr>
        <p:spPr>
          <a:xfrm>
            <a:off x="815975" y="1951355"/>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6" name="Image 0" descr="CheckCircle">    </p:cNvPr>
          <p:cNvPicPr>
            <a:picLocks noChangeAspect="1"/>
          </p:cNvPicPr>
          <p:nvPr/>
        </p:nvPicPr>
        <p:blipFill>
          <a:blip r:embed="rId1"/>
          <a:srcRect l="0" r="0" t="0" b="0"/>
          <a:stretch/>
        </p:blipFill>
        <p:spPr>
          <a:xfrm>
            <a:off x="1008380" y="2227263"/>
            <a:ext cx="279400" cy="279400"/>
          </a:xfrm>
          <a:prstGeom prst="rect">
            <a:avLst/>
          </a:prstGeom>
        </p:spPr>
      </p:pic>
      <p:sp>
        <p:nvSpPr>
          <p:cNvPr id="7" name="Text 4"/>
          <p:cNvSpPr/>
          <p:nvPr/>
        </p:nvSpPr>
        <p:spPr>
          <a:xfrm>
            <a:off x="1414780" y="2242662"/>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End-to-end pipeline, SQLite store, citation ids</a:t>
            </a:r>
            <a:endParaRPr lang="en-US" sz="1450" dirty="0"/>
          </a:p>
        </p:txBody>
      </p:sp>
      <p:sp>
        <p:nvSpPr>
          <p:cNvPr id="8" name="Shape 5"/>
          <p:cNvSpPr/>
          <p:nvPr/>
        </p:nvSpPr>
        <p:spPr>
          <a:xfrm>
            <a:off x="6099175" y="1951355"/>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9" name="Image 1" descr="CheckCircle">    </p:cNvPr>
          <p:cNvPicPr>
            <a:picLocks noChangeAspect="1"/>
          </p:cNvPicPr>
          <p:nvPr/>
        </p:nvPicPr>
        <p:blipFill>
          <a:blip r:embed="rId2"/>
          <a:srcRect l="0" r="0" t="0" b="0"/>
          <a:stretch/>
        </p:blipFill>
        <p:spPr>
          <a:xfrm>
            <a:off x="6291580" y="2227263"/>
            <a:ext cx="279400" cy="279400"/>
          </a:xfrm>
          <a:prstGeom prst="rect">
            <a:avLst/>
          </a:prstGeom>
        </p:spPr>
      </p:pic>
      <p:sp>
        <p:nvSpPr>
          <p:cNvPr id="10" name="Text 6"/>
          <p:cNvSpPr/>
          <p:nvPr/>
        </p:nvSpPr>
        <p:spPr>
          <a:xfrm>
            <a:off x="6697980" y="2242662"/>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Groq LLM report, cited and cross-checked</a:t>
            </a:r>
            <a:endParaRPr lang="en-US" sz="1450" dirty="0"/>
          </a:p>
        </p:txBody>
      </p:sp>
      <p:sp>
        <p:nvSpPr>
          <p:cNvPr id="11" name="Shape 7"/>
          <p:cNvSpPr/>
          <p:nvPr/>
        </p:nvSpPr>
        <p:spPr>
          <a:xfrm>
            <a:off x="815975" y="2788920"/>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12" name="Image 2" descr="CheckCircle">    </p:cNvPr>
          <p:cNvPicPr>
            <a:picLocks noChangeAspect="1"/>
          </p:cNvPicPr>
          <p:nvPr/>
        </p:nvPicPr>
        <p:blipFill>
          <a:blip r:embed="rId3"/>
          <a:srcRect l="0" r="0" t="0" b="0"/>
          <a:stretch/>
        </p:blipFill>
        <p:spPr>
          <a:xfrm>
            <a:off x="1008380" y="3064828"/>
            <a:ext cx="279400" cy="279400"/>
          </a:xfrm>
          <a:prstGeom prst="rect">
            <a:avLst/>
          </a:prstGeom>
        </p:spPr>
      </p:pic>
      <p:sp>
        <p:nvSpPr>
          <p:cNvPr id="13" name="Text 8"/>
          <p:cNvSpPr/>
          <p:nvPr/>
        </p:nvSpPr>
        <p:spPr>
          <a:xfrm>
            <a:off x="1414780" y="3080226"/>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Cipher ID: AES, 3DES, RSA, ChaCha20, GCM, ECC</a:t>
            </a:r>
            <a:endParaRPr lang="en-US" sz="1450" dirty="0"/>
          </a:p>
        </p:txBody>
      </p:sp>
      <p:sp>
        <p:nvSpPr>
          <p:cNvPr id="14" name="Shape 9"/>
          <p:cNvSpPr/>
          <p:nvPr/>
        </p:nvSpPr>
        <p:spPr>
          <a:xfrm>
            <a:off x="6099175" y="2788920"/>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15" name="Image 3" descr="CheckCircle">    </p:cNvPr>
          <p:cNvPicPr>
            <a:picLocks noChangeAspect="1"/>
          </p:cNvPicPr>
          <p:nvPr/>
        </p:nvPicPr>
        <p:blipFill>
          <a:blip r:embed="rId4"/>
          <a:srcRect l="0" r="0" t="0" b="0"/>
          <a:stretch/>
        </p:blipFill>
        <p:spPr>
          <a:xfrm>
            <a:off x="6291580" y="3064828"/>
            <a:ext cx="279400" cy="279400"/>
          </a:xfrm>
          <a:prstGeom prst="rect">
            <a:avLst/>
          </a:prstGeom>
        </p:spPr>
      </p:pic>
      <p:sp>
        <p:nvSpPr>
          <p:cNvPr id="16" name="Text 10"/>
          <p:cNvSpPr/>
          <p:nvPr/>
        </p:nvSpPr>
        <p:spPr>
          <a:xfrm>
            <a:off x="6697980" y="3080226"/>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Red-team of 6 attacks, 78 reports measured</a:t>
            </a:r>
            <a:endParaRPr lang="en-US" sz="1450" dirty="0"/>
          </a:p>
        </p:txBody>
      </p:sp>
      <p:sp>
        <p:nvSpPr>
          <p:cNvPr id="17" name="Shape 11"/>
          <p:cNvSpPr/>
          <p:nvPr/>
        </p:nvSpPr>
        <p:spPr>
          <a:xfrm>
            <a:off x="815975" y="3626486"/>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18" name="Image 4" descr="CheckCircle">    </p:cNvPr>
          <p:cNvPicPr>
            <a:picLocks noChangeAspect="1"/>
          </p:cNvPicPr>
          <p:nvPr/>
        </p:nvPicPr>
        <p:blipFill>
          <a:blip r:embed="rId5"/>
          <a:srcRect l="0" r="0" t="0" b="0"/>
          <a:stretch/>
        </p:blipFill>
        <p:spPr>
          <a:xfrm>
            <a:off x="1008380" y="3902393"/>
            <a:ext cx="279400" cy="279400"/>
          </a:xfrm>
          <a:prstGeom prst="rect">
            <a:avLst/>
          </a:prstGeom>
        </p:spPr>
      </p:pic>
      <p:sp>
        <p:nvSpPr>
          <p:cNvPr id="19" name="Text 12"/>
          <p:cNvSpPr/>
          <p:nvPr/>
        </p:nvSpPr>
        <p:spPr>
          <a:xfrm>
            <a:off x="1414780" y="3793491"/>
            <a:ext cx="4620209" cy="522605"/>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Weak RSA key tests and the JWT, OAuth, OTP module</a:t>
            </a:r>
            <a:endParaRPr lang="en-US" sz="1450" dirty="0"/>
          </a:p>
        </p:txBody>
      </p:sp>
      <p:sp>
        <p:nvSpPr>
          <p:cNvPr id="20" name="Shape 13"/>
          <p:cNvSpPr/>
          <p:nvPr/>
        </p:nvSpPr>
        <p:spPr>
          <a:xfrm>
            <a:off x="6099175" y="3626486"/>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21" name="Image 5" descr="CheckCircle">    </p:cNvPr>
          <p:cNvPicPr>
            <a:picLocks noChangeAspect="1"/>
          </p:cNvPicPr>
          <p:nvPr/>
        </p:nvPicPr>
        <p:blipFill>
          <a:blip r:embed="rId6"/>
          <a:srcRect l="0" r="0" t="0" b="0"/>
          <a:stretch/>
        </p:blipFill>
        <p:spPr>
          <a:xfrm>
            <a:off x="6291580" y="3902393"/>
            <a:ext cx="279400" cy="279400"/>
          </a:xfrm>
          <a:prstGeom prst="rect">
            <a:avLst/>
          </a:prstGeom>
        </p:spPr>
      </p:pic>
      <p:sp>
        <p:nvSpPr>
          <p:cNvPr id="22" name="Text 14"/>
          <p:cNvSpPr/>
          <p:nvPr/>
        </p:nvSpPr>
        <p:spPr>
          <a:xfrm>
            <a:off x="6697980" y="3917792"/>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Defences: sanitiser, citations, rule check</a:t>
            </a:r>
            <a:endParaRPr lang="en-US" sz="1450" dirty="0"/>
          </a:p>
        </p:txBody>
      </p:sp>
      <p:sp>
        <p:nvSpPr>
          <p:cNvPr id="23" name="Shape 15"/>
          <p:cNvSpPr/>
          <p:nvPr/>
        </p:nvSpPr>
        <p:spPr>
          <a:xfrm>
            <a:off x="815975" y="4464050"/>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24" name="Image 6" descr="CheckCircle">    </p:cNvPr>
          <p:cNvPicPr>
            <a:picLocks noChangeAspect="1"/>
          </p:cNvPicPr>
          <p:nvPr/>
        </p:nvPicPr>
        <p:blipFill>
          <a:blip r:embed="rId7"/>
          <a:srcRect l="0" r="0" t="0" b="0"/>
          <a:stretch/>
        </p:blipFill>
        <p:spPr>
          <a:xfrm>
            <a:off x="1008380" y="4739957"/>
            <a:ext cx="279400" cy="279400"/>
          </a:xfrm>
          <a:prstGeom prst="rect">
            <a:avLst/>
          </a:prstGeom>
        </p:spPr>
      </p:pic>
      <p:sp>
        <p:nvSpPr>
          <p:cNvPr id="25" name="Text 16"/>
          <p:cNvSpPr/>
          <p:nvPr/>
        </p:nvSpPr>
        <p:spPr>
          <a:xfrm>
            <a:off x="1414780" y="4755356"/>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Three public dumps: Win11, Win10, Win7</a:t>
            </a:r>
            <a:endParaRPr lang="en-US" sz="1450" dirty="0"/>
          </a:p>
        </p:txBody>
      </p:sp>
      <p:sp>
        <p:nvSpPr>
          <p:cNvPr id="26" name="Shape 17"/>
          <p:cNvSpPr/>
          <p:nvPr/>
        </p:nvSpPr>
        <p:spPr>
          <a:xfrm>
            <a:off x="6099175" y="4464050"/>
            <a:ext cx="5276850" cy="831215"/>
          </a:xfrm>
          <a:prstGeom prst="roundRect">
            <a:avLst>
              <a:gd name="adj" fmla="val 13369"/>
            </a:avLst>
          </a:prstGeom>
          <a:solidFill>
            <a:srgbClr val="FFFFFF">
              <a:alpha val="4000"/>
            </a:srgbClr>
          </a:solidFill>
          <a:ln w="6350">
            <a:solidFill>
              <a:srgbClr val="5CCFC0">
                <a:alpha val="30000"/>
              </a:srgbClr>
            </a:solidFill>
            <a:prstDash val="solid"/>
          </a:ln>
        </p:spPr>
      </p:sp>
      <p:pic>
        <p:nvPicPr>
          <p:cNvPr id="27" name="Image 7" descr="CheckCircle">    </p:cNvPr>
          <p:cNvPicPr>
            <a:picLocks noChangeAspect="1"/>
          </p:cNvPicPr>
          <p:nvPr/>
        </p:nvPicPr>
        <p:blipFill>
          <a:blip r:embed="rId8"/>
          <a:srcRect l="0" r="0" t="0" b="0"/>
          <a:stretch/>
        </p:blipFill>
        <p:spPr>
          <a:xfrm>
            <a:off x="6291580" y="4739957"/>
            <a:ext cx="279400" cy="279400"/>
          </a:xfrm>
          <a:prstGeom prst="rect">
            <a:avLst/>
          </a:prstGeom>
        </p:spPr>
      </p:pic>
      <p:sp>
        <p:nvSpPr>
          <p:cNvPr id="28" name="Text 18"/>
          <p:cNvSpPr/>
          <p:nvPr/>
        </p:nvSpPr>
        <p:spPr>
          <a:xfrm>
            <a:off x="6697980" y="4755356"/>
            <a:ext cx="4620209" cy="27400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E4E8F2"/>
                </a:solidFill>
                <a:latin typeface="DM Sans" pitchFamily="34" charset="0"/>
                <a:ea typeface="DM Sans" pitchFamily="34" charset="-122"/>
                <a:cs typeface="DM Sans" pitchFamily="34" charset="-120"/>
              </a:rPr>
              <a:t>Dashboard, 28 tests, literature survey</a:t>
            </a:r>
            <a:endParaRPr lang="en-US" sz="1450" dirty="0"/>
          </a:p>
        </p:txBody>
      </p:sp>
      <p:sp>
        <p:nvSpPr>
          <p:cNvPr id="29" name="Text 19"/>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B0"/>
                </a:solidFill>
                <a:latin typeface="DM Sans" pitchFamily="34" charset="0"/>
                <a:ea typeface="DM Sans" pitchFamily="34" charset="-122"/>
                <a:cs typeface="DM Sans" pitchFamily="34" charset="-120"/>
              </a:rPr>
              <a:t>Public datasets and synthetic keys only, no malware executed.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8FA8F0"/>
                </a:solidFill>
                <a:latin typeface="DM Sans" pitchFamily="34" charset="0"/>
                <a:ea typeface="DM Sans" pitchFamily="34" charset="-122"/>
                <a:cs typeface="DM Sans" pitchFamily="34" charset="-120"/>
              </a:rPr>
              <a:t>THE CORE OF THE LAB</a:t>
            </a:r>
            <a:endParaRPr lang="en-US" sz="1400" dirty="0"/>
          </a:p>
        </p:txBody>
      </p:sp>
      <p:sp>
        <p:nvSpPr>
          <p:cNvPr id="4" name="Text 2"/>
          <p:cNvSpPr/>
          <p:nvPr>
            <p:ph type="title"/>
          </p:nvPr>
        </p:nvSpPr>
        <p:spPr>
          <a:xfrm>
            <a:off x="812800" y="116332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Crypto analysis</a:t>
            </a:r>
            <a:endParaRPr lang="en-US" sz="3800" dirty="0"/>
          </a:p>
        </p:txBody>
      </p:sp>
      <p:sp>
        <p:nvSpPr>
          <p:cNvPr id="5" name="Shape 3"/>
          <p:cNvSpPr/>
          <p:nvPr/>
        </p:nvSpPr>
        <p:spPr>
          <a:xfrm>
            <a:off x="815975" y="1951355"/>
            <a:ext cx="6107906" cy="3463290"/>
          </a:xfrm>
          <a:prstGeom prst="roundRect">
            <a:avLst>
              <a:gd name="adj" fmla="val 3942"/>
            </a:avLst>
          </a:prstGeom>
          <a:solidFill>
            <a:srgbClr val="FFFFFF">
              <a:alpha val="5000"/>
            </a:srgbClr>
          </a:solidFill>
          <a:ln w="6350">
            <a:solidFill>
              <a:srgbClr val="FFFFFF">
                <a:alpha val="9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43940" y="2153921"/>
          <a:ext cx="5662136" cy="3068320"/>
        </p:xfrm>
        <a:graphic>
          <a:graphicData uri="http://schemas.openxmlformats.org/drawingml/2006/table">
            <a:tbl>
              <a:tblPr/>
              <a:tblGrid>
                <a:gridCol w="2151612"/>
                <a:gridCol w="3510525"/>
              </a:tblGrid>
              <a:tr h="383540">
                <a:tc>
                  <a:txBody>
                    <a:bodyPr/>
                    <a:lstStyle/>
                    <a:p>
                      <a:pPr indent="0" marL="0">
                        <a:lnSpc>
                          <a:spcPts val="1960"/>
                        </a:lnSpc>
                        <a:buNone/>
                      </a:pPr>
                      <a:r>
                        <a:rPr lang="en-US" sz="1400" b="1" dirty="0">
                          <a:solidFill>
                            <a:srgbClr val="5CCFC0"/>
                          </a:solidFill>
                          <a:latin typeface="DM Sans" pitchFamily="34" charset="0"/>
                          <a:ea typeface="DM Sans" pitchFamily="34" charset="-122"/>
                          <a:cs typeface="DM Sans" pitchFamily="34" charset="-120"/>
                        </a:rPr>
                        <a:t>Cipher</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2F"/>
                    </a:solidFill>
                  </a:tcPr>
                </a:tc>
                <a:tc>
                  <a:txBody>
                    <a:bodyPr/>
                    <a:lstStyle/>
                    <a:p>
                      <a:pPr indent="0" marL="0">
                        <a:lnSpc>
                          <a:spcPts val="1960"/>
                        </a:lnSpc>
                        <a:buNone/>
                      </a:pPr>
                      <a:r>
                        <a:rPr lang="en-US" sz="1400" b="1" dirty="0">
                          <a:solidFill>
                            <a:srgbClr val="5CCFC0"/>
                          </a:solidFill>
                          <a:latin typeface="DM Sans" pitchFamily="34" charset="0"/>
                          <a:ea typeface="DM Sans" pitchFamily="34" charset="-122"/>
                          <a:cs typeface="DM Sans" pitchFamily="34" charset="-120"/>
                        </a:rPr>
                        <a:t>What we look for in memory</a:t>
                      </a:r>
                      <a:endParaRPr lang="en-US" sz="1400" dirty="0">
                        <a:latin typeface="DM Sans" charset="0"/>
                        <a:ea typeface="DM Sans" charset="0"/>
                        <a:cs typeface="DM Sans" charset="0"/>
                      </a:endParaRPr>
                    </a:p>
                  </a:txBody>
                  <a:tcPr marL="62230" marR="62230" marT="62230" marB="62230"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2F"/>
                    </a:solidFill>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AES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S-box, Rcon, T-tables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DES / 3DES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IP, PC-1, S-box tables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ChaCha20 / Salsa20</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"expand 32-byte k"</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AES-GCM</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GHASH reduction tables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Curve25519</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p = 2^255 - 19</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P-256, secp256k1</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Curve constants</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RSA</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OID, CAPI and CNG blobs, PEM</a:t>
                      </a:r>
                      <a:endParaRPr lang="en-US" sz="1400" dirty="0">
                        <a:latin typeface="DM Sans" charset="0"/>
                        <a:ea typeface="DM Sans" charset="0"/>
                        <a:cs typeface="DM Sans" charset="0"/>
                      </a:endParaRPr>
                    </a:p>
                  </a:txBody>
                  <a:tcPr marL="62230" marR="62230" marT="62230" marB="62230"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bl>
          </a:graphicData>
        </a:graphic>
      </p:graphicFrame>
      <p:sp>
        <p:nvSpPr>
          <p:cNvPr id="7" name="Shape 4"/>
          <p:cNvSpPr/>
          <p:nvPr/>
        </p:nvSpPr>
        <p:spPr>
          <a:xfrm>
            <a:off x="7158831" y="1951355"/>
            <a:ext cx="4217194" cy="3463290"/>
          </a:xfrm>
          <a:prstGeom prst="roundRect">
            <a:avLst>
              <a:gd name="adj" fmla="val 3942"/>
            </a:avLst>
          </a:prstGeom>
          <a:gradFill rotWithShape="1">
            <a:gsLst>
              <a:gs pos="0">
                <a:srgbClr val="5CCFC0">
                  <a:alpha val="8000"/>
                </a:srgbClr>
              </a:gs>
              <a:gs pos="100000">
                <a:srgbClr val="8FA8F0">
                  <a:alpha val="8000"/>
                </a:srgbClr>
              </a:gs>
            </a:gsLst>
            <a:lin ang="4200000" scaled="0"/>
          </a:gradFill>
          <a:ln w="6350">
            <a:solidFill>
              <a:srgbClr val="FFFFFF">
                <a:alpha val="10000"/>
              </a:srgbClr>
            </a:solidFill>
            <a:prstDash val="solid"/>
          </a:ln>
        </p:spPr>
      </p:sp>
      <p:sp>
        <p:nvSpPr>
          <p:cNvPr id="8" name="Text 5"/>
          <p:cNvSpPr/>
          <p:nvPr/>
        </p:nvSpPr>
        <p:spPr>
          <a:xfrm>
            <a:off x="7376637" y="2169161"/>
            <a:ext cx="389503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4E8F2"/>
                </a:solidFill>
                <a:latin typeface="Space Grotesk" pitchFamily="34" charset="0"/>
                <a:ea typeface="Space Grotesk" pitchFamily="34" charset="-122"/>
                <a:cs typeface="Space Grotesk" pitchFamily="34" charset="-120"/>
              </a:rPr>
              <a:t>Weak RSA key tests</a:t>
            </a:r>
            <a:endParaRPr lang="en-US" sz="2000" dirty="0"/>
          </a:p>
        </p:txBody>
      </p:sp>
      <p:sp>
        <p:nvSpPr>
          <p:cNvPr id="9" name="Text 6"/>
          <p:cNvSpPr/>
          <p:nvPr/>
        </p:nvSpPr>
        <p:spPr>
          <a:xfrm>
            <a:off x="7461219" y="2600961"/>
            <a:ext cx="3802829" cy="1403350"/>
          </a:xfrm>
          <a:prstGeom prst="rect">
            <a:avLst/>
          </a:prstGeom>
          <a:noFill/>
          <a:ln/>
        </p:spPr>
        <p:txBody>
          <a:bodyPr wrap="square" lIns="0" tIns="0" rIns="0" bIns="0" rtlCol="0" anchor="t">
            <a:normAutofit/>
          </a:bodyPr>
          <a:lstStyle/>
          <a:p>
            <a:pPr algn="l" marL="169418" indent="-169418">
              <a:lnSpc>
                <a:spcPts val="2170"/>
              </a:lnSpc>
              <a:buSzPct val="100000"/>
              <a:buChar char="•"/>
            </a:pPr>
            <a:r>
              <a:rPr lang="en-US" sz="1400" dirty="0">
                <a:solidFill>
                  <a:srgbClr val="E4E8F2"/>
                </a:solidFill>
                <a:latin typeface="DM Sans" pitchFamily="34" charset="0"/>
                <a:ea typeface="DM Sans" pitchFamily="34" charset="-122"/>
                <a:cs typeface="DM Sans" pitchFamily="34" charset="-120"/>
              </a:rPr>
              <a:t>Modulus size</a:t>
            </a:r>
            <a:endParaRPr lang="en-US" sz="1400" dirty="0"/>
          </a:p>
          <a:p>
            <a:pPr algn="l" marL="169418" indent="-169418">
              <a:lnSpc>
                <a:spcPts val="2170"/>
              </a:lnSpc>
              <a:buSzPct val="100000"/>
              <a:buChar char="•"/>
            </a:pPr>
            <a:r>
              <a:rPr lang="en-US" sz="1400" dirty="0">
                <a:solidFill>
                  <a:srgbClr val="E4E8F2"/>
                </a:solidFill>
                <a:latin typeface="DM Sans" pitchFamily="34" charset="0"/>
                <a:ea typeface="DM Sans" pitchFamily="34" charset="-122"/>
                <a:cs typeface="DM Sans" pitchFamily="34" charset="-120"/>
              </a:rPr>
              <a:t>Small public exponent</a:t>
            </a:r>
            <a:endParaRPr lang="en-US" sz="1400" dirty="0"/>
          </a:p>
          <a:p>
            <a:pPr algn="l" marL="169418" indent="-169418">
              <a:lnSpc>
                <a:spcPts val="2170"/>
              </a:lnSpc>
              <a:buSzPct val="100000"/>
              <a:buChar char="•"/>
            </a:pPr>
            <a:r>
              <a:rPr lang="en-US" sz="1400" dirty="0">
                <a:solidFill>
                  <a:srgbClr val="E4E8F2"/>
                </a:solidFill>
                <a:latin typeface="DM Sans" pitchFamily="34" charset="0"/>
                <a:ea typeface="DM Sans" pitchFamily="34" charset="-122"/>
                <a:cs typeface="DM Sans" pitchFamily="34" charset="-120"/>
              </a:rPr>
              <a:t>Shared modulus</a:t>
            </a:r>
            <a:endParaRPr lang="en-US" sz="1400" dirty="0"/>
          </a:p>
          <a:p>
            <a:pPr algn="l" marL="169418" indent="-169418">
              <a:lnSpc>
                <a:spcPts val="2170"/>
              </a:lnSpc>
              <a:buSzPct val="100000"/>
              <a:buChar char="•"/>
            </a:pPr>
            <a:r>
              <a:rPr lang="en-US" sz="1400" dirty="0">
                <a:solidFill>
                  <a:srgbClr val="E4E8F2"/>
                </a:solidFill>
                <a:latin typeface="DM Sans" pitchFamily="34" charset="0"/>
                <a:ea typeface="DM Sans" pitchFamily="34" charset="-122"/>
                <a:cs typeface="DM Sans" pitchFamily="34" charset="-120"/>
              </a:rPr>
              <a:t>Shared prime (GCD)</a:t>
            </a:r>
            <a:endParaRPr lang="en-US" sz="1400" dirty="0"/>
          </a:p>
          <a:p>
            <a:pPr algn="l" marL="169418" indent="-169418">
              <a:lnSpc>
                <a:spcPts val="2170"/>
              </a:lnSpc>
              <a:buSzPct val="100000"/>
              <a:buChar char="•"/>
            </a:pPr>
            <a:r>
              <a:rPr lang="en-US" sz="1400" dirty="0">
                <a:solidFill>
                  <a:srgbClr val="E4E8F2"/>
                </a:solidFill>
                <a:latin typeface="DM Sans" pitchFamily="34" charset="0"/>
                <a:ea typeface="DM Sans" pitchFamily="34" charset="-122"/>
                <a:cs typeface="DM Sans" pitchFamily="34" charset="-120"/>
              </a:rPr>
              <a:t>Close primes (Fermat)</a:t>
            </a:r>
            <a:endParaRPr lang="en-US" sz="1400" dirty="0"/>
          </a:p>
        </p:txBody>
      </p:sp>
      <p:sp>
        <p:nvSpPr>
          <p:cNvPr id="10" name="Text 7"/>
          <p:cNvSpPr/>
          <p:nvPr/>
        </p:nvSpPr>
        <p:spPr>
          <a:xfrm>
            <a:off x="7376637" y="4105911"/>
            <a:ext cx="389503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Each key gets a 0 to 100 strength score.</a:t>
            </a:r>
            <a:endParaRPr lang="en-US" sz="1400" dirty="0"/>
          </a:p>
        </p:txBody>
      </p:sp>
      <p:sp>
        <p:nvSpPr>
          <p:cNvPr id="11" name="Text 8"/>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B0"/>
                </a:solidFill>
                <a:latin typeface="DM Sans" pitchFamily="34" charset="0"/>
                <a:ea typeface="DM Sans" pitchFamily="34" charset="-122"/>
                <a:cs typeface="DM Sans" pitchFamily="34" charset="-120"/>
              </a:rPr>
              <a:t>Confidence per cipher is 1 minus the product of (1 - weight) over matched signatures. Random data gives zero hits.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1220"/>
              </a:gs>
              <a:gs pos="55000">
                <a:srgbClr val="0F1A30"/>
              </a:gs>
              <a:gs pos="100000">
                <a:srgbClr val="13213D"/>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5CCFC0"/>
                </a:solidFill>
                <a:latin typeface="DM Sans" pitchFamily="34" charset="0"/>
                <a:ea typeface="DM Sans" pitchFamily="34" charset="-122"/>
                <a:cs typeface="DM Sans" pitchFamily="34" charset="-120"/>
              </a:rPr>
              <a:t>REAL DATA</a:t>
            </a:r>
            <a:endParaRPr lang="en-US" sz="1400" dirty="0"/>
          </a:p>
        </p:txBody>
      </p:sp>
      <p:sp>
        <p:nvSpPr>
          <p:cNvPr id="4" name="Text 2"/>
          <p:cNvSpPr/>
          <p:nvPr>
            <p:ph type="title"/>
          </p:nvPr>
        </p:nvSpPr>
        <p:spPr>
          <a:xfrm>
            <a:off x="812800" y="116332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Three public memory dumps</a:t>
            </a:r>
            <a:endParaRPr lang="en-US" sz="3800" dirty="0"/>
          </a:p>
        </p:txBody>
      </p:sp>
      <p:sp>
        <p:nvSpPr>
          <p:cNvPr id="5" name="Shape 3"/>
          <p:cNvSpPr/>
          <p:nvPr/>
        </p:nvSpPr>
        <p:spPr>
          <a:xfrm>
            <a:off x="815975" y="1951357"/>
            <a:ext cx="3397250" cy="2565400"/>
          </a:xfrm>
          <a:prstGeom prst="roundRect">
            <a:avLst>
              <a:gd name="adj" fmla="val 5322"/>
            </a:avLst>
          </a:prstGeom>
          <a:solidFill>
            <a:srgbClr val="FFFFFF">
              <a:alpha val="4000"/>
            </a:srgbClr>
          </a:solidFill>
          <a:ln w="6350">
            <a:solidFill>
              <a:srgbClr val="FFFFFF">
                <a:alpha val="10000"/>
              </a:srgbClr>
            </a:solidFill>
            <a:prstDash val="solid"/>
          </a:ln>
        </p:spPr>
      </p:sp>
      <p:sp>
        <p:nvSpPr>
          <p:cNvPr id="6" name="Text 4"/>
          <p:cNvSpPr/>
          <p:nvPr/>
        </p:nvSpPr>
        <p:spPr>
          <a:xfrm>
            <a:off x="1021080" y="2143761"/>
            <a:ext cx="3076651" cy="34544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E4E8F2"/>
                </a:solidFill>
                <a:latin typeface="Space Grotesk" pitchFamily="34" charset="0"/>
                <a:ea typeface="Space Grotesk" pitchFamily="34" charset="-122"/>
                <a:cs typeface="Space Grotesk" pitchFamily="34" charset="-120"/>
              </a:rPr>
              <a:t>Windows 11</a:t>
            </a:r>
            <a:endParaRPr lang="en-US" sz="2100" dirty="0"/>
          </a:p>
        </p:txBody>
      </p:sp>
      <p:sp>
        <p:nvSpPr>
          <p:cNvPr id="7" name="Text 5"/>
          <p:cNvSpPr/>
          <p:nvPr/>
        </p:nvSpPr>
        <p:spPr>
          <a:xfrm>
            <a:off x="1021080" y="2552700"/>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4BDD6"/>
                </a:solidFill>
                <a:latin typeface="DM Sans" pitchFamily="34" charset="0"/>
                <a:ea typeface="DM Sans" pitchFamily="34" charset="-122"/>
                <a:cs typeface="DM Sans" pitchFamily="34" charset="-120"/>
              </a:rPr>
              <a:t>13Cubed challenge, 4.3 GB, plus a TLS pcap</a:t>
            </a:r>
            <a:endParaRPr lang="en-US" sz="1200" dirty="0"/>
          </a:p>
        </p:txBody>
      </p:sp>
      <p:sp>
        <p:nvSpPr>
          <p:cNvPr id="8" name="Text 6"/>
          <p:cNvSpPr/>
          <p:nvPr/>
        </p:nvSpPr>
        <p:spPr>
          <a:xfrm>
            <a:off x="1021080" y="3053082"/>
            <a:ext cx="722757"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80</a:t>
            </a:r>
            <a:endParaRPr lang="en-US" sz="3800" dirty="0"/>
          </a:p>
        </p:txBody>
      </p:sp>
      <p:sp>
        <p:nvSpPr>
          <p:cNvPr id="9" name="Text 7"/>
          <p:cNvSpPr/>
          <p:nvPr/>
        </p:nvSpPr>
        <p:spPr>
          <a:xfrm>
            <a:off x="1021080" y="3559811"/>
            <a:ext cx="6530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findings</a:t>
            </a:r>
            <a:endParaRPr lang="en-US" sz="1200" dirty="0"/>
          </a:p>
        </p:txBody>
      </p:sp>
      <p:sp>
        <p:nvSpPr>
          <p:cNvPr id="10" name="Text 8"/>
          <p:cNvSpPr/>
          <p:nvPr/>
        </p:nvSpPr>
        <p:spPr>
          <a:xfrm>
            <a:off x="1826577" y="3053082"/>
            <a:ext cx="65341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55</a:t>
            </a:r>
            <a:endParaRPr lang="en-US" sz="3800" dirty="0"/>
          </a:p>
        </p:txBody>
      </p:sp>
      <p:sp>
        <p:nvSpPr>
          <p:cNvPr id="11" name="Text 9"/>
          <p:cNvSpPr/>
          <p:nvPr/>
        </p:nvSpPr>
        <p:spPr>
          <a:xfrm>
            <a:off x="1826577" y="3559811"/>
            <a:ext cx="7231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risk /100</a:t>
            </a:r>
            <a:endParaRPr lang="en-US" sz="1200" dirty="0"/>
          </a:p>
        </p:txBody>
      </p:sp>
      <p:sp>
        <p:nvSpPr>
          <p:cNvPr id="12" name="Text 10"/>
          <p:cNvSpPr/>
          <p:nvPr/>
        </p:nvSpPr>
        <p:spPr>
          <a:xfrm>
            <a:off x="1021080" y="3862071"/>
            <a:ext cx="30766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8F2"/>
                </a:solidFill>
                <a:latin typeface="DM Sans" pitchFamily="34" charset="0"/>
                <a:ea typeface="DM Sans" pitchFamily="34" charset="-122"/>
                <a:cs typeface="DM Sans" pitchFamily="34" charset="-120"/>
              </a:rPr>
              <a:t>RSA-512 key in memory. Notepad opened encryption_log.txt.</a:t>
            </a:r>
            <a:endParaRPr lang="en-US" sz="1300" dirty="0"/>
          </a:p>
        </p:txBody>
      </p:sp>
      <p:sp>
        <p:nvSpPr>
          <p:cNvPr id="13" name="Shape 11"/>
          <p:cNvSpPr/>
          <p:nvPr/>
        </p:nvSpPr>
        <p:spPr>
          <a:xfrm>
            <a:off x="4397375" y="1951357"/>
            <a:ext cx="3397250" cy="2565400"/>
          </a:xfrm>
          <a:prstGeom prst="roundRect">
            <a:avLst>
              <a:gd name="adj" fmla="val 5322"/>
            </a:avLst>
          </a:prstGeom>
          <a:solidFill>
            <a:srgbClr val="FFFFFF">
              <a:alpha val="4000"/>
            </a:srgbClr>
          </a:solidFill>
          <a:ln w="6350">
            <a:solidFill>
              <a:srgbClr val="FFFFFF">
                <a:alpha val="10000"/>
              </a:srgbClr>
            </a:solidFill>
            <a:prstDash val="solid"/>
          </a:ln>
        </p:spPr>
      </p:sp>
      <p:sp>
        <p:nvSpPr>
          <p:cNvPr id="14" name="Text 12"/>
          <p:cNvSpPr/>
          <p:nvPr/>
        </p:nvSpPr>
        <p:spPr>
          <a:xfrm>
            <a:off x="4602480" y="2143761"/>
            <a:ext cx="3076651" cy="34544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E4E8F2"/>
                </a:solidFill>
                <a:latin typeface="Space Grotesk" pitchFamily="34" charset="0"/>
                <a:ea typeface="Space Grotesk" pitchFamily="34" charset="-122"/>
                <a:cs typeface="Space Grotesk" pitchFamily="34" charset="-120"/>
              </a:rPr>
              <a:t>Windows 10</a:t>
            </a:r>
            <a:endParaRPr lang="en-US" sz="2100" dirty="0"/>
          </a:p>
        </p:txBody>
      </p:sp>
      <p:sp>
        <p:nvSpPr>
          <p:cNvPr id="15" name="Text 13"/>
          <p:cNvSpPr/>
          <p:nvPr/>
        </p:nvSpPr>
        <p:spPr>
          <a:xfrm>
            <a:off x="4602480" y="2552700"/>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4BDD6"/>
                </a:solidFill>
                <a:latin typeface="DM Sans" pitchFamily="34" charset="0"/>
                <a:ea typeface="DM Sans" pitchFamily="34" charset="-122"/>
                <a:cs typeface="DM Sans" pitchFamily="34" charset="-120"/>
              </a:rPr>
              <a:t>DFIR Madness case 001, 2 GB, plus a real 188 MB pcap</a:t>
            </a:r>
            <a:endParaRPr lang="en-US" sz="1200" dirty="0"/>
          </a:p>
        </p:txBody>
      </p:sp>
      <p:sp>
        <p:nvSpPr>
          <p:cNvPr id="16" name="Text 14"/>
          <p:cNvSpPr/>
          <p:nvPr/>
        </p:nvSpPr>
        <p:spPr>
          <a:xfrm>
            <a:off x="4602480" y="3053082"/>
            <a:ext cx="715804"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48</a:t>
            </a:r>
            <a:endParaRPr lang="en-US" sz="3800" dirty="0"/>
          </a:p>
        </p:txBody>
      </p:sp>
      <p:sp>
        <p:nvSpPr>
          <p:cNvPr id="17" name="Text 15"/>
          <p:cNvSpPr/>
          <p:nvPr/>
        </p:nvSpPr>
        <p:spPr>
          <a:xfrm>
            <a:off x="4602480" y="3559811"/>
            <a:ext cx="6473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findings</a:t>
            </a:r>
            <a:endParaRPr lang="en-US" sz="1200" dirty="0"/>
          </a:p>
        </p:txBody>
      </p:sp>
      <p:sp>
        <p:nvSpPr>
          <p:cNvPr id="18" name="Text 16"/>
          <p:cNvSpPr/>
          <p:nvPr/>
        </p:nvSpPr>
        <p:spPr>
          <a:xfrm>
            <a:off x="5402183" y="3053082"/>
            <a:ext cx="65341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85</a:t>
            </a:r>
            <a:endParaRPr lang="en-US" sz="3800" dirty="0"/>
          </a:p>
        </p:txBody>
      </p:sp>
      <p:sp>
        <p:nvSpPr>
          <p:cNvPr id="19" name="Text 17"/>
          <p:cNvSpPr/>
          <p:nvPr/>
        </p:nvSpPr>
        <p:spPr>
          <a:xfrm>
            <a:off x="5402183" y="3559811"/>
            <a:ext cx="7231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risk /100</a:t>
            </a:r>
            <a:endParaRPr lang="en-US" sz="1200" dirty="0"/>
          </a:p>
        </p:txBody>
      </p:sp>
      <p:sp>
        <p:nvSpPr>
          <p:cNvPr id="20" name="Text 18"/>
          <p:cNvSpPr/>
          <p:nvPr/>
        </p:nvSpPr>
        <p:spPr>
          <a:xfrm>
            <a:off x="4602480" y="3862071"/>
            <a:ext cx="30766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8F2"/>
                </a:solidFill>
                <a:latin typeface="DM Sans" pitchFamily="34" charset="0"/>
                <a:ea typeface="DM Sans" pitchFamily="34" charset="-122"/>
                <a:cs typeface="DM Sans" pitchFamily="34" charset="-120"/>
              </a:rPr>
              <a:t>PE header injected into spoolsv.exe. PowerShell with 5 injected regions.</a:t>
            </a:r>
            <a:endParaRPr lang="en-US" sz="1300" dirty="0"/>
          </a:p>
        </p:txBody>
      </p:sp>
      <p:sp>
        <p:nvSpPr>
          <p:cNvPr id="21" name="Shape 19"/>
          <p:cNvSpPr/>
          <p:nvPr/>
        </p:nvSpPr>
        <p:spPr>
          <a:xfrm>
            <a:off x="7978775" y="1951357"/>
            <a:ext cx="3397250" cy="2565400"/>
          </a:xfrm>
          <a:prstGeom prst="roundRect">
            <a:avLst>
              <a:gd name="adj" fmla="val 5322"/>
            </a:avLst>
          </a:prstGeom>
          <a:solidFill>
            <a:srgbClr val="FFFFFF">
              <a:alpha val="4000"/>
            </a:srgbClr>
          </a:solidFill>
          <a:ln w="6350">
            <a:solidFill>
              <a:srgbClr val="FFFFFF">
                <a:alpha val="10000"/>
              </a:srgbClr>
            </a:solidFill>
            <a:prstDash val="solid"/>
          </a:ln>
        </p:spPr>
      </p:sp>
      <p:sp>
        <p:nvSpPr>
          <p:cNvPr id="22" name="Text 20"/>
          <p:cNvSpPr/>
          <p:nvPr/>
        </p:nvSpPr>
        <p:spPr>
          <a:xfrm>
            <a:off x="8183880" y="2143761"/>
            <a:ext cx="3076651" cy="34544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E4E8F2"/>
                </a:solidFill>
                <a:latin typeface="Space Grotesk" pitchFamily="34" charset="0"/>
                <a:ea typeface="Space Grotesk" pitchFamily="34" charset="-122"/>
                <a:cs typeface="Space Grotesk" pitchFamily="34" charset="-120"/>
              </a:rPr>
              <a:t>Windows 7</a:t>
            </a:r>
            <a:endParaRPr lang="en-US" sz="2100" dirty="0"/>
          </a:p>
        </p:txBody>
      </p:sp>
      <p:sp>
        <p:nvSpPr>
          <p:cNvPr id="23" name="Text 21"/>
          <p:cNvSpPr/>
          <p:nvPr/>
        </p:nvSpPr>
        <p:spPr>
          <a:xfrm>
            <a:off x="8183880" y="2552700"/>
            <a:ext cx="3076651"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4BDD6"/>
                </a:solidFill>
                <a:latin typeface="DM Sans" pitchFamily="34" charset="0"/>
                <a:ea typeface="DM Sans" pitchFamily="34" charset="-122"/>
                <a:cs typeface="DM Sans" pitchFamily="34" charset="-120"/>
              </a:rPr>
              <a:t>Hacktoria Memory Mystery, 1 GB, 32-bit</a:t>
            </a:r>
            <a:endParaRPr lang="en-US" sz="1200" dirty="0"/>
          </a:p>
        </p:txBody>
      </p:sp>
      <p:sp>
        <p:nvSpPr>
          <p:cNvPr id="24" name="Text 22"/>
          <p:cNvSpPr/>
          <p:nvPr/>
        </p:nvSpPr>
        <p:spPr>
          <a:xfrm>
            <a:off x="8183880" y="2847339"/>
            <a:ext cx="694944"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58</a:t>
            </a:r>
            <a:endParaRPr lang="en-US" sz="3800" dirty="0"/>
          </a:p>
        </p:txBody>
      </p:sp>
      <p:sp>
        <p:nvSpPr>
          <p:cNvPr id="25" name="Text 23"/>
          <p:cNvSpPr/>
          <p:nvPr/>
        </p:nvSpPr>
        <p:spPr>
          <a:xfrm>
            <a:off x="8183880" y="3354071"/>
            <a:ext cx="6299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findings</a:t>
            </a:r>
            <a:endParaRPr lang="en-US" sz="1200" dirty="0"/>
          </a:p>
        </p:txBody>
      </p:sp>
      <p:sp>
        <p:nvSpPr>
          <p:cNvPr id="26" name="Text 24"/>
          <p:cNvSpPr/>
          <p:nvPr/>
        </p:nvSpPr>
        <p:spPr>
          <a:xfrm>
            <a:off x="8966200" y="2847339"/>
            <a:ext cx="727424"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E4E8F2"/>
                </a:solidFill>
                <a:latin typeface="Space Grotesk" pitchFamily="34" charset="0"/>
                <a:ea typeface="Space Grotesk" pitchFamily="34" charset="-122"/>
                <a:cs typeface="Space Grotesk" pitchFamily="34" charset="-120"/>
              </a:rPr>
              <a:t>30</a:t>
            </a:r>
            <a:endParaRPr lang="en-US" sz="3800" dirty="0"/>
          </a:p>
        </p:txBody>
      </p:sp>
      <p:sp>
        <p:nvSpPr>
          <p:cNvPr id="27" name="Text 25"/>
          <p:cNvSpPr/>
          <p:nvPr/>
        </p:nvSpPr>
        <p:spPr>
          <a:xfrm>
            <a:off x="8966200" y="3354071"/>
            <a:ext cx="7274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risk /100</a:t>
            </a:r>
            <a:endParaRPr lang="en-US" sz="1200" dirty="0"/>
          </a:p>
        </p:txBody>
      </p:sp>
      <p:sp>
        <p:nvSpPr>
          <p:cNvPr id="28" name="Text 26"/>
          <p:cNvSpPr/>
          <p:nvPr/>
        </p:nvSpPr>
        <p:spPr>
          <a:xfrm>
            <a:off x="8183880" y="3656332"/>
            <a:ext cx="30766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8F2"/>
                </a:solidFill>
                <a:latin typeface="DM Sans" pitchFamily="34" charset="0"/>
                <a:ea typeface="DM Sans" pitchFamily="34" charset="-122"/>
                <a:cs typeface="DM Sans" pitchFamily="34" charset="-120"/>
              </a:rPr>
              <a:t>Same code in 5 processes. A shell started by VMware Tools.</a:t>
            </a:r>
            <a:endParaRPr lang="en-US" sz="1300" dirty="0"/>
          </a:p>
        </p:txBody>
      </p:sp>
      <p:sp>
        <p:nvSpPr>
          <p:cNvPr id="29" name="Text 2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BDD6"/>
                </a:solidFill>
                <a:latin typeface="DM Sans" pitchFamily="34" charset="0"/>
                <a:ea typeface="DM Sans" pitchFamily="34" charset="-122"/>
                <a:cs typeface="DM Sans" pitchFamily="34" charset="-120"/>
              </a:rPr>
              <a:t>One pipeline, three Windows versions. Tuned from 689 to 80 findings on the first dump.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63763"/>
          </a:xfrm>
          <a:prstGeom prst="rect">
            <a:avLst/>
          </a:prstGeom>
          <a:noFill/>
          <a:ln/>
        </p:spPr>
        <p:txBody>
          <a:bodyPr wrap="square" lIns="0" tIns="0" rIns="0" bIns="0" rtlCol="0" anchor="t">
            <a:normAutofit/>
          </a:bodyPr>
          <a:lstStyle/>
          <a:p>
            <a:pPr algn="l" indent="0" marL="0">
              <a:lnSpc>
                <a:spcPts val="1923"/>
              </a:lnSpc>
              <a:buNone/>
            </a:pPr>
            <a:r>
              <a:rPr lang="en-US" sz="1374" b="1" spc="250" kern="0" dirty="0">
                <a:solidFill>
                  <a:srgbClr val="D9B650"/>
                </a:solidFill>
                <a:latin typeface="DM Sans" pitchFamily="34" charset="0"/>
                <a:ea typeface="DM Sans" pitchFamily="34" charset="-122"/>
                <a:cs typeface="DM Sans" pitchFamily="34" charset="-120"/>
              </a:rPr>
              <a:t>LESSONS</a:t>
            </a:r>
            <a:endParaRPr lang="en-US" sz="1374" dirty="0"/>
          </a:p>
        </p:txBody>
      </p:sp>
      <p:sp>
        <p:nvSpPr>
          <p:cNvPr id="4" name="Text 2"/>
          <p:cNvSpPr/>
          <p:nvPr>
            <p:ph type="title"/>
          </p:nvPr>
        </p:nvSpPr>
        <p:spPr>
          <a:xfrm>
            <a:off x="812800" y="1152764"/>
            <a:ext cx="10883392" cy="533638"/>
          </a:xfrm>
          <a:prstGeom prst="rect">
            <a:avLst/>
          </a:prstGeom>
          <a:noFill/>
          <a:ln/>
        </p:spPr>
        <p:txBody>
          <a:bodyPr wrap="square" lIns="0" tIns="0" rIns="0" bIns="0" rtlCol="0" anchor="t">
            <a:normAutofit/>
          </a:bodyPr>
          <a:lstStyle/>
          <a:p>
            <a:pPr algn="l" indent="0" marL="0">
              <a:lnSpc>
                <a:spcPts val="4023"/>
              </a:lnSpc>
              <a:buNone/>
            </a:pPr>
            <a:r>
              <a:rPr lang="en-US" sz="3657" b="1" i="0" dirty="0">
                <a:solidFill>
                  <a:srgbClr val="E4E8F2"/>
                </a:solidFill>
                <a:latin typeface="Space Grotesk" pitchFamily="34" charset="0"/>
                <a:ea typeface="Space Grotesk" pitchFamily="34" charset="-122"/>
                <a:cs typeface="Space Grotesk" pitchFamily="34" charset="-120"/>
              </a:rPr>
              <a:t>What real data taught us</a:t>
            </a:r>
            <a:endParaRPr lang="en-US" sz="3657" dirty="0"/>
          </a:p>
        </p:txBody>
      </p:sp>
      <p:sp>
        <p:nvSpPr>
          <p:cNvPr id="5" name="Shape 3"/>
          <p:cNvSpPr/>
          <p:nvPr/>
        </p:nvSpPr>
        <p:spPr>
          <a:xfrm>
            <a:off x="815975" y="1918177"/>
            <a:ext cx="10560050" cy="2978229"/>
          </a:xfrm>
          <a:prstGeom prst="roundRect">
            <a:avLst>
              <a:gd name="adj" fmla="val 4584"/>
            </a:avLst>
          </a:prstGeom>
          <a:solidFill>
            <a:srgbClr val="FFFFFF">
              <a:alpha val="5000"/>
            </a:srgbClr>
          </a:solidFill>
          <a:ln w="6350">
            <a:solidFill>
              <a:srgbClr val="FFFFFF">
                <a:alpha val="9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56640" y="2120741"/>
          <a:ext cx="10088880" cy="2583259"/>
        </p:xfrm>
        <a:graphic>
          <a:graphicData uri="http://schemas.openxmlformats.org/drawingml/2006/table">
            <a:tbl>
              <a:tblPr/>
              <a:tblGrid>
                <a:gridCol w="4439107"/>
                <a:gridCol w="5649773"/>
              </a:tblGrid>
              <a:tr h="369014">
                <a:tc>
                  <a:txBody>
                    <a:bodyPr/>
                    <a:lstStyle/>
                    <a:p>
                      <a:pPr indent="0" marL="0">
                        <a:lnSpc>
                          <a:spcPts val="1880"/>
                        </a:lnSpc>
                        <a:buNone/>
                      </a:pPr>
                      <a:r>
                        <a:rPr lang="en-US" sz="1343" b="1" dirty="0">
                          <a:solidFill>
                            <a:srgbClr val="D9B650"/>
                          </a:solidFill>
                          <a:latin typeface="DM Sans" pitchFamily="34" charset="0"/>
                          <a:ea typeface="DM Sans" pitchFamily="34" charset="-122"/>
                          <a:cs typeface="DM Sans" pitchFamily="34" charset="-120"/>
                        </a:rPr>
                        <a:t>Problem on real data</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2F"/>
                    </a:solidFill>
                  </a:tcPr>
                </a:tc>
                <a:tc>
                  <a:txBody>
                    <a:bodyPr/>
                    <a:lstStyle/>
                    <a:p>
                      <a:pPr indent="0" marL="0">
                        <a:lnSpc>
                          <a:spcPts val="1880"/>
                        </a:lnSpc>
                        <a:buNone/>
                      </a:pPr>
                      <a:r>
                        <a:rPr lang="en-US" sz="1343" b="1" dirty="0">
                          <a:solidFill>
                            <a:srgbClr val="D9B650"/>
                          </a:solidFill>
                          <a:latin typeface="DM Sans" pitchFamily="34" charset="0"/>
                          <a:ea typeface="DM Sans" pitchFamily="34" charset="-122"/>
                          <a:cs typeface="DM Sans" pitchFamily="34" charset="-120"/>
                        </a:rPr>
                        <a:t>Fix</a:t>
                      </a:r>
                      <a:endParaRPr lang="en-US" sz="1343" dirty="0">
                        <a:latin typeface="DM Sans" charset="0"/>
                        <a:ea typeface="DM Sans" charset="0"/>
                        <a:cs typeface="DM Sans" charset="0"/>
                      </a:endParaRPr>
                    </a:p>
                  </a:txBody>
                  <a:tcPr marL="59702" marR="59702" marT="59702" marB="59702" anchor="t">
                    <a:lnL w="12700" cap="flat" cmpd="sng" algn="ctr">
                      <a:solidFill>
                        <a:srgbClr val="54565B"/>
                      </a:solidFill>
                      <a:prstDash val="solid"/>
                      <a:round/>
                      <a:headEnd type="none" w="med" len="med"/>
                      <a:tailEnd type="none" w="med" len="med"/>
                    </a:lnL>
                    <a:lnR w="12700" cap="flat" cmpd="sng" algn="ctr">
                      <a:solidFill>
                        <a:srgbClr val="54565B"/>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54565B"/>
                      </a:solidFill>
                      <a:prstDash val="solid"/>
                      <a:round/>
                      <a:headEnd type="none" w="med" len="med"/>
                      <a:tailEnd type="none" w="med" len="med"/>
                    </a:lnB>
                    <a:solidFill>
                      <a:srgbClr val="25282F"/>
                    </a:solidFill>
                  </a:tcPr>
                </a:tc>
              </a:tr>
              <a:tr h="36901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Crash on a corrupt PEM block</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Skip damaged fragments</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54565B"/>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6901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pyshark fails on Python 3.14</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Create an event loop first</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6901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netscan empty on Windows 11 24H2</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Fall back to netstat, 52 connections</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6901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636 RSA keys from the cert store</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Group clean keys, cap size issues at low</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6909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Defender JIT flagged as injection</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Per process, known JIT is low</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r h="369094">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Risk score stuck at 100</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c>
                  <a:txBody>
                    <a:bodyPr/>
                    <a:lstStyle/>
                    <a:p>
                      <a:pPr indent="0" marL="0">
                        <a:lnSpc>
                          <a:spcPts val="1880"/>
                        </a:lnSpc>
                        <a:buNone/>
                      </a:pPr>
                      <a:r>
                        <a:rPr lang="en-US" sz="1343" dirty="0">
                          <a:solidFill>
                            <a:srgbClr val="E4E8F2"/>
                          </a:solidFill>
                          <a:latin typeface="DM Sans" pitchFamily="34" charset="0"/>
                          <a:ea typeface="DM Sans" pitchFamily="34" charset="-122"/>
                          <a:cs typeface="DM Sans" pitchFamily="34" charset="-120"/>
                        </a:rPr>
                        <a:t>Per-severity cap on points</a:t>
                      </a:r>
                      <a:endParaRPr lang="en-US" sz="1343" dirty="0">
                        <a:latin typeface="DM Sans" charset="0"/>
                        <a:ea typeface="DM Sans" charset="0"/>
                        <a:cs typeface="DM Sans" charset="0"/>
                      </a:endParaRPr>
                    </a:p>
                  </a:txBody>
                  <a:tcPr marL="59702" marR="59702" marT="59702" marB="59702" anchor="t">
                    <a:lnL w="12700" cap="flat" cmpd="sng" algn="ctr">
                      <a:solidFill>
                        <a:srgbClr val="46484D"/>
                      </a:solidFill>
                      <a:prstDash val="solid"/>
                      <a:round/>
                      <a:headEnd type="none" w="med" len="med"/>
                      <a:tailEnd type="none" w="med" len="med"/>
                    </a:lnL>
                    <a:lnR w="12700" cap="flat" cmpd="sng" algn="ctr">
                      <a:solidFill>
                        <a:srgbClr val="46484D"/>
                      </a:solidFill>
                      <a:prstDash val="solid"/>
                      <a:round/>
                      <a:headEnd type="none" w="med" len="med"/>
                      <a:tailEnd type="none" w="med" len="med"/>
                    </a:lnR>
                    <a:lnT w="12700" cap="flat" cmpd="sng" algn="ctr">
                      <a:solidFill>
                        <a:srgbClr val="46484D"/>
                      </a:solidFill>
                      <a:prstDash val="solid"/>
                      <a:round/>
                      <a:headEnd type="none" w="med" len="med"/>
                      <a:tailEnd type="none" w="med" len="med"/>
                    </a:lnT>
                    <a:lnB w="12700" cap="flat" cmpd="sng" algn="ctr">
                      <a:solidFill>
                        <a:srgbClr val="46484D"/>
                      </a:solidFill>
                      <a:prstDash val="solid"/>
                      <a:round/>
                      <a:headEnd type="none" w="med" len="med"/>
                      <a:tailEnd type="none" w="med" len="med"/>
                    </a:lnB>
                  </a:tcPr>
                </a:tc>
              </a:tr>
            </a:tbl>
          </a:graphicData>
        </a:graphic>
      </p:graphicFrame>
      <p:sp>
        <p:nvSpPr>
          <p:cNvPr id="7" name="Text 4"/>
          <p:cNvSpPr/>
          <p:nvPr/>
        </p:nvSpPr>
        <p:spPr>
          <a:xfrm>
            <a:off x="815975" y="5156755"/>
            <a:ext cx="10560050" cy="682069"/>
          </a:xfrm>
          <a:prstGeom prst="roundRect">
            <a:avLst>
              <a:gd name="adj" fmla="val 20016"/>
            </a:avLst>
          </a:prstGeom>
          <a:gradFill rotWithShape="1">
            <a:gsLst>
              <a:gs pos="0">
                <a:srgbClr val="5CCFC0">
                  <a:alpha val="10000"/>
                </a:srgbClr>
              </a:gs>
              <a:gs pos="100000">
                <a:srgbClr val="8FA8F0">
                  <a:alpha val="10000"/>
                </a:srgbClr>
              </a:gs>
            </a:gsLst>
            <a:lin ang="0" scaled="0"/>
          </a:gradFill>
          <a:ln w="6350">
            <a:solidFill>
              <a:srgbClr val="FFFFFF">
                <a:alpha val="10000"/>
              </a:srgbClr>
            </a:solidFill>
            <a:prstDash val="solid"/>
          </a:ln>
        </p:spPr>
        <p:txBody>
          <a:bodyPr wrap="square" lIns="190518" tIns="120708" rIns="0" bIns="120708" rtlCol="0" anchor="ctr">
            <a:normAutofit/>
          </a:bodyPr>
          <a:lstStyle/>
          <a:p>
            <a:pPr algn="l" indent="0" marL="0">
              <a:lnSpc>
                <a:spcPts val="2640"/>
              </a:lnSpc>
              <a:buNone/>
            </a:pPr>
            <a:r>
              <a:rPr lang="en-US" sz="2200" b="1" dirty="0">
                <a:solidFill>
                  <a:srgbClr val="E4E8F2"/>
                </a:solidFill>
                <a:latin typeface="Space Grotesk" pitchFamily="34" charset="0"/>
                <a:ea typeface="Space Grotesk" pitchFamily="34" charset="-122"/>
                <a:cs typeface="Space Grotesk" pitchFamily="34" charset="-120"/>
              </a:rPr>
              <a:t>689 findings, risk 100 to 80 findings, risk 55</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8FA8F0"/>
                </a:solidFill>
                <a:latin typeface="DM Sans" pitchFamily="34" charset="0"/>
                <a:ea typeface="DM Sans" pitchFamily="34" charset="-122"/>
                <a:cs typeface="DM Sans" pitchFamily="34" charset="-120"/>
              </a:rPr>
              <a:t>RED TEAM</a:t>
            </a:r>
            <a:endParaRPr lang="en-US" sz="1400" dirty="0"/>
          </a:p>
        </p:txBody>
      </p:sp>
      <p:sp>
        <p:nvSpPr>
          <p:cNvPr id="4" name="Text 2"/>
          <p:cNvSpPr/>
          <p:nvPr>
            <p:ph type="title"/>
          </p:nvPr>
        </p:nvSpPr>
        <p:spPr>
          <a:xfrm>
            <a:off x="812800" y="116332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Can we mislead the LLM report?</a:t>
            </a:r>
            <a:endParaRPr lang="en-US" sz="3800" dirty="0"/>
          </a:p>
        </p:txBody>
      </p:sp>
      <p:sp>
        <p:nvSpPr>
          <p:cNvPr id="5" name="Shape 3"/>
          <p:cNvSpPr/>
          <p:nvPr/>
        </p:nvSpPr>
        <p:spPr>
          <a:xfrm>
            <a:off x="815975" y="1925957"/>
            <a:ext cx="5162550" cy="2376170"/>
          </a:xfrm>
          <a:prstGeom prst="roundRect">
            <a:avLst>
              <a:gd name="adj" fmla="val 5746"/>
            </a:avLst>
          </a:prstGeom>
          <a:solidFill>
            <a:srgbClr val="FFFFFF">
              <a:alpha val="5000"/>
            </a:srgbClr>
          </a:solidFill>
          <a:ln w="6350">
            <a:solidFill>
              <a:srgbClr val="FFFFFF">
                <a:alpha val="9000"/>
              </a:srgbClr>
            </a:solidFill>
            <a:prstDash val="solid"/>
          </a:ln>
        </p:spPr>
      </p:sp>
      <p:sp>
        <p:nvSpPr>
          <p:cNvPr id="6" name="Text 4"/>
          <p:cNvSpPr/>
          <p:nvPr/>
        </p:nvSpPr>
        <p:spPr>
          <a:xfrm>
            <a:off x="1033780" y="2118361"/>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8FA8F0"/>
                </a:solidFill>
                <a:latin typeface="Space Grotesk" pitchFamily="34" charset="0"/>
                <a:ea typeface="Space Grotesk" pitchFamily="34" charset="-122"/>
                <a:cs typeface="Space Grotesk" pitchFamily="34" charset="-120"/>
              </a:rPr>
              <a:t>6 attacks, hidden in JWT and OTP fields</a:t>
            </a:r>
            <a:endParaRPr lang="en-US" sz="1900" dirty="0"/>
          </a:p>
        </p:txBody>
      </p:sp>
      <p:sp>
        <p:nvSpPr>
          <p:cNvPr id="7" name="Text 5"/>
          <p:cNvSpPr/>
          <p:nvPr/>
        </p:nvSpPr>
        <p:spPr>
          <a:xfrm>
            <a:off x="1118362" y="2509521"/>
            <a:ext cx="4776546"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Call the host clean</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Cite a fake finding</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Name a cipher that is absent</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Recommend disabling Defender</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Hide the RSA finding</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Persuade without trigger words</a:t>
            </a:r>
            <a:endParaRPr lang="en-US" sz="1400" dirty="0"/>
          </a:p>
        </p:txBody>
      </p:sp>
      <p:sp>
        <p:nvSpPr>
          <p:cNvPr id="8" name="Shape 6"/>
          <p:cNvSpPr/>
          <p:nvPr/>
        </p:nvSpPr>
        <p:spPr>
          <a:xfrm>
            <a:off x="6213475" y="1925957"/>
            <a:ext cx="5162550" cy="2376170"/>
          </a:xfrm>
          <a:prstGeom prst="roundRect">
            <a:avLst>
              <a:gd name="adj" fmla="val 5746"/>
            </a:avLst>
          </a:prstGeom>
          <a:gradFill rotWithShape="1">
            <a:gsLst>
              <a:gs pos="0">
                <a:srgbClr val="5CCFC0">
                  <a:alpha val="8000"/>
                </a:srgbClr>
              </a:gs>
              <a:gs pos="100000">
                <a:srgbClr val="8FA8F0">
                  <a:alpha val="8000"/>
                </a:srgbClr>
              </a:gs>
            </a:gsLst>
            <a:lin ang="4200000" scaled="0"/>
          </a:gradFill>
          <a:ln w="6350">
            <a:solidFill>
              <a:srgbClr val="FFFFFF">
                <a:alpha val="10000"/>
              </a:srgbClr>
            </a:solidFill>
            <a:prstDash val="solid"/>
          </a:ln>
        </p:spPr>
      </p:sp>
      <p:sp>
        <p:nvSpPr>
          <p:cNvPr id="9" name="Text 7"/>
          <p:cNvSpPr/>
          <p:nvPr/>
        </p:nvSpPr>
        <p:spPr>
          <a:xfrm>
            <a:off x="6431280" y="2118361"/>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5CCFC0"/>
                </a:solidFill>
                <a:latin typeface="Space Grotesk" pitchFamily="34" charset="0"/>
                <a:ea typeface="Space Grotesk" pitchFamily="34" charset="-122"/>
                <a:cs typeface="Space Grotesk" pitchFamily="34" charset="-120"/>
              </a:rPr>
              <a:t>4 defences</a:t>
            </a:r>
            <a:endParaRPr lang="en-US" sz="1900" dirty="0"/>
          </a:p>
        </p:txBody>
      </p:sp>
      <p:sp>
        <p:nvSpPr>
          <p:cNvPr id="10" name="Text 8"/>
          <p:cNvSpPr/>
          <p:nvPr/>
        </p:nvSpPr>
        <p:spPr>
          <a:xfrm>
            <a:off x="6515862" y="2509521"/>
            <a:ext cx="4776546"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Sanitise findings before the LLM</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Require a citation per claim</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Cross-check against the rule-based result</a:t>
            </a:r>
            <a:endParaRPr lang="en-US" sz="1400" dirty="0"/>
          </a:p>
          <a:p>
            <a:pPr algn="l" marL="169418" indent="-169418">
              <a:lnSpc>
                <a:spcPts val="2100"/>
              </a:lnSpc>
              <a:buSzPct val="100000"/>
              <a:buChar char="•"/>
            </a:pPr>
            <a:r>
              <a:rPr lang="en-US" sz="1400" dirty="0">
                <a:solidFill>
                  <a:srgbClr val="E4E8F2"/>
                </a:solidFill>
                <a:latin typeface="DM Sans" pitchFamily="34" charset="0"/>
                <a:ea typeface="DM Sans" pitchFamily="34" charset="-122"/>
                <a:cs typeface="DM Sans" pitchFamily="34" charset="-120"/>
              </a:rPr>
              <a:t>One retry, then flag the report</a:t>
            </a:r>
            <a:endParaRPr lang="en-US" sz="1400" dirty="0"/>
          </a:p>
        </p:txBody>
      </p:sp>
      <p:sp>
        <p:nvSpPr>
          <p:cNvPr id="11" name="Text 9"/>
          <p:cNvSpPr/>
          <p:nvPr/>
        </p:nvSpPr>
        <p:spPr>
          <a:xfrm>
            <a:off x="812800" y="6238239"/>
            <a:ext cx="1046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B0"/>
                </a:solidFill>
                <a:latin typeface="DM Sans" pitchFamily="34" charset="0"/>
                <a:ea typeface="DM Sans" pitchFamily="34" charset="-122"/>
                <a:cs typeface="DM Sans" pitchFamily="34" charset="-120"/>
              </a:rPr>
              <a:t>6 attacks x 2 fields + a clean control, 3 trials each, with and without defences = 78 LLM reports.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1220"/>
              </a:gs>
              <a:gs pos="55000">
                <a:srgbClr val="0F1A30"/>
              </a:gs>
              <a:gs pos="100000">
                <a:srgbClr val="13213D"/>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5CCFC0"/>
                </a:solidFill>
                <a:latin typeface="DM Sans" pitchFamily="34" charset="0"/>
                <a:ea typeface="DM Sans" pitchFamily="34" charset="-122"/>
                <a:cs typeface="DM Sans" pitchFamily="34" charset="-120"/>
              </a:rPr>
              <a:t>RESULTS</a:t>
            </a:r>
            <a:endParaRPr lang="en-US" sz="1400" dirty="0"/>
          </a:p>
        </p:txBody>
      </p:sp>
      <p:sp>
        <p:nvSpPr>
          <p:cNvPr id="4" name="Text 2"/>
          <p:cNvSpPr/>
          <p:nvPr>
            <p:ph type="title"/>
          </p:nvPr>
        </p:nvSpPr>
        <p:spPr>
          <a:xfrm>
            <a:off x="812800" y="116332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Defences cut attack success</a:t>
            </a:r>
            <a:endParaRPr lang="en-US" sz="3800" dirty="0"/>
          </a:p>
        </p:txBody>
      </p:sp>
      <p:sp>
        <p:nvSpPr>
          <p:cNvPr id="5" name="Shape 3"/>
          <p:cNvSpPr/>
          <p:nvPr/>
        </p:nvSpPr>
        <p:spPr>
          <a:xfrm>
            <a:off x="815975" y="1925957"/>
            <a:ext cx="4966970" cy="1116330"/>
          </a:xfrm>
          <a:prstGeom prst="roundRect">
            <a:avLst>
              <a:gd name="adj" fmla="val 12230"/>
            </a:avLst>
          </a:prstGeom>
          <a:solidFill>
            <a:srgbClr val="FFFFFF">
              <a:alpha val="4000"/>
            </a:srgbClr>
          </a:solidFill>
          <a:ln w="6350">
            <a:solidFill>
              <a:srgbClr val="FFFFFF">
                <a:alpha val="10000"/>
              </a:srgbClr>
            </a:solidFill>
            <a:prstDash val="solid"/>
          </a:ln>
        </p:spPr>
      </p:sp>
      <p:sp>
        <p:nvSpPr>
          <p:cNvPr id="6" name="Text 4"/>
          <p:cNvSpPr/>
          <p:nvPr/>
        </p:nvSpPr>
        <p:spPr>
          <a:xfrm>
            <a:off x="1021080" y="2080261"/>
            <a:ext cx="4693463"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E4E8F2"/>
                </a:solidFill>
                <a:latin typeface="Space Grotesk" pitchFamily="34" charset="0"/>
                <a:ea typeface="Space Grotesk" pitchFamily="34" charset="-122"/>
                <a:cs typeface="Space Grotesk" pitchFamily="34" charset="-120"/>
              </a:rPr>
              <a:t>4/36 to 0/36</a:t>
            </a:r>
            <a:endParaRPr lang="en-US" sz="4000" dirty="0"/>
          </a:p>
        </p:txBody>
      </p:sp>
      <p:sp>
        <p:nvSpPr>
          <p:cNvPr id="7" name="Text 5"/>
          <p:cNvSpPr/>
          <p:nvPr/>
        </p:nvSpPr>
        <p:spPr>
          <a:xfrm>
            <a:off x="1021080" y="2639061"/>
            <a:ext cx="46934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Attacks that fooled the report</a:t>
            </a:r>
            <a:endParaRPr lang="en-US" sz="1400" dirty="0"/>
          </a:p>
        </p:txBody>
      </p:sp>
      <p:sp>
        <p:nvSpPr>
          <p:cNvPr id="8" name="Shape 6"/>
          <p:cNvSpPr/>
          <p:nvPr/>
        </p:nvSpPr>
        <p:spPr>
          <a:xfrm>
            <a:off x="815975" y="3175636"/>
            <a:ext cx="4966970" cy="1116330"/>
          </a:xfrm>
          <a:prstGeom prst="roundRect">
            <a:avLst>
              <a:gd name="adj" fmla="val 12230"/>
            </a:avLst>
          </a:prstGeom>
          <a:solidFill>
            <a:srgbClr val="FFFFFF">
              <a:alpha val="4000"/>
            </a:srgbClr>
          </a:solidFill>
          <a:ln w="6350">
            <a:solidFill>
              <a:srgbClr val="FFFFFF">
                <a:alpha val="10000"/>
              </a:srgbClr>
            </a:solidFill>
            <a:prstDash val="solid"/>
          </a:ln>
        </p:spPr>
      </p:sp>
      <p:sp>
        <p:nvSpPr>
          <p:cNvPr id="9" name="Text 7"/>
          <p:cNvSpPr/>
          <p:nvPr/>
        </p:nvSpPr>
        <p:spPr>
          <a:xfrm>
            <a:off x="1021080" y="3329939"/>
            <a:ext cx="4693463"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E4E8F2"/>
                </a:solidFill>
                <a:latin typeface="Space Grotesk" pitchFamily="34" charset="0"/>
                <a:ea typeface="Space Grotesk" pitchFamily="34" charset="-122"/>
                <a:cs typeface="Space Grotesk" pitchFamily="34" charset="-120"/>
              </a:rPr>
              <a:t>0/36</a:t>
            </a:r>
            <a:endParaRPr lang="en-US" sz="4000" dirty="0"/>
          </a:p>
        </p:txBody>
      </p:sp>
      <p:sp>
        <p:nvSpPr>
          <p:cNvPr id="10" name="Text 8"/>
          <p:cNvSpPr/>
          <p:nvPr/>
        </p:nvSpPr>
        <p:spPr>
          <a:xfrm>
            <a:off x="1021080" y="3888739"/>
            <a:ext cx="46934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Misleading reports with no warning</a:t>
            </a:r>
            <a:endParaRPr lang="en-US" sz="1400" dirty="0"/>
          </a:p>
        </p:txBody>
      </p:sp>
      <p:sp>
        <p:nvSpPr>
          <p:cNvPr id="11" name="Shape 9"/>
          <p:cNvSpPr/>
          <p:nvPr/>
        </p:nvSpPr>
        <p:spPr>
          <a:xfrm>
            <a:off x="815975" y="4425317"/>
            <a:ext cx="4966970" cy="1116330"/>
          </a:xfrm>
          <a:prstGeom prst="roundRect">
            <a:avLst>
              <a:gd name="adj" fmla="val 12230"/>
            </a:avLst>
          </a:prstGeom>
          <a:solidFill>
            <a:srgbClr val="FFFFFF">
              <a:alpha val="4000"/>
            </a:srgbClr>
          </a:solidFill>
          <a:ln w="6350">
            <a:solidFill>
              <a:srgbClr val="FFFFFF">
                <a:alpha val="10000"/>
              </a:srgbClr>
            </a:solidFill>
            <a:prstDash val="solid"/>
          </a:ln>
        </p:spPr>
      </p:sp>
      <p:sp>
        <p:nvSpPr>
          <p:cNvPr id="12" name="Text 10"/>
          <p:cNvSpPr/>
          <p:nvPr/>
        </p:nvSpPr>
        <p:spPr>
          <a:xfrm>
            <a:off x="1021080" y="4579621"/>
            <a:ext cx="4693463"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E4E8F2"/>
                </a:solidFill>
                <a:latin typeface="Space Grotesk" pitchFamily="34" charset="0"/>
                <a:ea typeface="Space Grotesk" pitchFamily="34" charset="-122"/>
                <a:cs typeface="Space Grotesk" pitchFamily="34" charset="-120"/>
              </a:rPr>
              <a:t>28% to 78%</a:t>
            </a:r>
            <a:endParaRPr lang="en-US" sz="4000" dirty="0"/>
          </a:p>
        </p:txBody>
      </p:sp>
      <p:sp>
        <p:nvSpPr>
          <p:cNvPr id="13" name="Text 11"/>
          <p:cNvSpPr/>
          <p:nvPr/>
        </p:nvSpPr>
        <p:spPr>
          <a:xfrm>
            <a:off x="1021080" y="5138421"/>
            <a:ext cx="46934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Claims backed by a valid citation</a:t>
            </a:r>
            <a:endParaRPr lang="en-US" sz="1400" dirty="0"/>
          </a:p>
        </p:txBody>
      </p:sp>
      <p:sp>
        <p:nvSpPr>
          <p:cNvPr id="14" name="Shape 12"/>
          <p:cNvSpPr/>
          <p:nvPr/>
        </p:nvSpPr>
        <p:spPr>
          <a:xfrm>
            <a:off x="5992495" y="1925957"/>
            <a:ext cx="5383530" cy="3615690"/>
          </a:xfrm>
          <a:prstGeom prst="roundRect">
            <a:avLst>
              <a:gd name="adj" fmla="val 3776"/>
            </a:avLst>
          </a:prstGeom>
          <a:solidFill>
            <a:srgbClr val="FFFFFF">
              <a:alpha val="4000"/>
            </a:srgbClr>
          </a:solidFill>
          <a:ln w="6350">
            <a:solidFill>
              <a:srgbClr val="FFFFFF">
                <a:alpha val="10000"/>
              </a:srgbClr>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07760" y="2115821"/>
          <a:ext cx="4963160" cy="2684780"/>
        </p:xfrm>
        <a:graphic>
          <a:graphicData uri="http://schemas.openxmlformats.org/drawingml/2006/table">
            <a:tbl>
              <a:tblPr/>
              <a:tblGrid>
                <a:gridCol w="2580843"/>
                <a:gridCol w="1191158"/>
                <a:gridCol w="1191158"/>
              </a:tblGrid>
              <a:tr h="383540">
                <a:tc>
                  <a:txBody>
                    <a:bodyPr/>
                    <a:lstStyle/>
                    <a:p>
                      <a:pPr indent="0" marL="0">
                        <a:lnSpc>
                          <a:spcPts val="1960"/>
                        </a:lnSpc>
                        <a:buNone/>
                      </a:pPr>
                      <a:r>
                        <a:rPr lang="en-US" sz="1400" b="1" dirty="0">
                          <a:solidFill>
                            <a:srgbClr val="5CCFC0"/>
                          </a:solidFill>
                          <a:latin typeface="DM Sans" pitchFamily="34" charset="0"/>
                          <a:ea typeface="DM Sans" pitchFamily="34" charset="-122"/>
                          <a:cs typeface="DM Sans" pitchFamily="34" charset="-120"/>
                        </a:rPr>
                        <a:t>Attack</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555A62"/>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555A62"/>
                      </a:solidFill>
                      <a:prstDash val="solid"/>
                      <a:round/>
                      <a:headEnd type="none" w="med" len="med"/>
                      <a:tailEnd type="none" w="med" len="med"/>
                    </a:lnB>
                    <a:solidFill>
                      <a:srgbClr val="272D39"/>
                    </a:solidFill>
                  </a:tcPr>
                </a:tc>
                <a:tc>
                  <a:txBody>
                    <a:bodyPr/>
                    <a:lstStyle/>
                    <a:p>
                      <a:pPr algn="ctr" indent="0" marL="0">
                        <a:lnSpc>
                          <a:spcPts val="1960"/>
                        </a:lnSpc>
                        <a:buNone/>
                      </a:pPr>
                      <a:r>
                        <a:rPr lang="en-US" sz="1400" b="1" dirty="0">
                          <a:solidFill>
                            <a:srgbClr val="5CCFC0"/>
                          </a:solidFill>
                          <a:latin typeface="DM Sans" pitchFamily="34" charset="0"/>
                          <a:ea typeface="DM Sans" pitchFamily="34" charset="-122"/>
                          <a:cs typeface="DM Sans" pitchFamily="34" charset="-120"/>
                        </a:rPr>
                        <a:t>Plain</a:t>
                      </a:r>
                      <a:endParaRPr lang="en-US" sz="1400" dirty="0">
                        <a:latin typeface="DM Sans" charset="0"/>
                        <a:ea typeface="DM Sans" charset="0"/>
                        <a:cs typeface="DM Sans" charset="0"/>
                      </a:endParaRPr>
                    </a:p>
                  </a:txBody>
                  <a:tcPr marL="62230" marR="62230" marT="62230" marB="62230" anchor="t">
                    <a:lnL w="12700" cap="flat" cmpd="sng" algn="ctr">
                      <a:solidFill>
                        <a:srgbClr val="555A62"/>
                      </a:solidFill>
                      <a:prstDash val="solid"/>
                      <a:round/>
                      <a:headEnd type="none" w="med" len="med"/>
                      <a:tailEnd type="none" w="med" len="med"/>
                    </a:lnL>
                    <a:lnR w="12700" cap="flat" cmpd="sng" algn="ctr">
                      <a:solidFill>
                        <a:srgbClr val="555A62"/>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555A62"/>
                      </a:solidFill>
                      <a:prstDash val="solid"/>
                      <a:round/>
                      <a:headEnd type="none" w="med" len="med"/>
                      <a:tailEnd type="none" w="med" len="med"/>
                    </a:lnB>
                    <a:solidFill>
                      <a:srgbClr val="272D39"/>
                    </a:solidFill>
                  </a:tcPr>
                </a:tc>
                <a:tc>
                  <a:txBody>
                    <a:bodyPr/>
                    <a:lstStyle/>
                    <a:p>
                      <a:pPr algn="ctr" indent="0" marL="0">
                        <a:lnSpc>
                          <a:spcPts val="1960"/>
                        </a:lnSpc>
                        <a:buNone/>
                      </a:pPr>
                      <a:r>
                        <a:rPr lang="en-US" sz="1400" b="1" dirty="0">
                          <a:solidFill>
                            <a:srgbClr val="5CCFC0"/>
                          </a:solidFill>
                          <a:latin typeface="DM Sans" pitchFamily="34" charset="0"/>
                          <a:ea typeface="DM Sans" pitchFamily="34" charset="-122"/>
                          <a:cs typeface="DM Sans" pitchFamily="34" charset="-120"/>
                        </a:rPr>
                        <a:t>Defended</a:t>
                      </a:r>
                      <a:endParaRPr lang="en-US" sz="1400" dirty="0">
                        <a:latin typeface="DM Sans" charset="0"/>
                        <a:ea typeface="DM Sans" charset="0"/>
                        <a:cs typeface="DM Sans" charset="0"/>
                      </a:endParaRPr>
                    </a:p>
                  </a:txBody>
                  <a:tcPr marL="62230" marR="62230" marT="62230" marB="62230" anchor="t">
                    <a:lnL w="12700" cap="flat" cmpd="sng" algn="ctr">
                      <a:solidFill>
                        <a:srgbClr val="555A62"/>
                      </a:solidFill>
                      <a:prstDash val="solid"/>
                      <a:round/>
                      <a:headEnd type="none" w="med" len="med"/>
                      <a:tailEnd type="none" w="med" len="med"/>
                    </a:lnL>
                    <a:lnR w="12700" cap="flat" cmpd="sng" algn="ctr">
                      <a:solidFill>
                        <a:srgbClr val="555A62"/>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555A62"/>
                      </a:solidFill>
                      <a:prstDash val="solid"/>
                      <a:round/>
                      <a:headEnd type="none" w="med" len="med"/>
                      <a:tailEnd type="none" w="med" len="med"/>
                    </a:lnB>
                    <a:solidFill>
                      <a:srgbClr val="272D39"/>
                    </a:solidFill>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Call the host clean</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555A62"/>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1/6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555A62"/>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555A62"/>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Fake citation</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1/6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Fake cipher</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Harmful advice</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2/6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Hide RSA finding</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r h="383540">
                <a:tc>
                  <a:txBody>
                    <a:bodyPr/>
                    <a:lstStyle/>
                    <a:p>
                      <a:pPr indent="0" marL="0">
                        <a:lnSpc>
                          <a:spcPts val="1960"/>
                        </a:lnSpc>
                        <a:buNone/>
                      </a:pPr>
                      <a:r>
                        <a:rPr lang="en-US" sz="1400" dirty="0">
                          <a:solidFill>
                            <a:srgbClr val="E4E8F2"/>
                          </a:solidFill>
                          <a:latin typeface="DM Sans" pitchFamily="34" charset="0"/>
                          <a:ea typeface="DM Sans" pitchFamily="34" charset="-122"/>
                          <a:cs typeface="DM Sans" pitchFamily="34" charset="-120"/>
                        </a:rPr>
                        <a:t>Subtle persuasion</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c>
                  <a:txBody>
                    <a:bodyPr/>
                    <a:lstStyle/>
                    <a:p>
                      <a:pPr algn="ctr" indent="0" marL="0">
                        <a:lnSpc>
                          <a:spcPts val="1960"/>
                        </a:lnSpc>
                        <a:buNone/>
                      </a:pPr>
                      <a:r>
                        <a:rPr lang="en-US" sz="1400" dirty="0">
                          <a:solidFill>
                            <a:srgbClr val="E4E8F2"/>
                          </a:solidFill>
                          <a:latin typeface="DM Sans" pitchFamily="34" charset="0"/>
                          <a:ea typeface="DM Sans" pitchFamily="34" charset="-122"/>
                          <a:cs typeface="DM Sans" pitchFamily="34" charset="-120"/>
                        </a:rPr>
                        <a:t>0/6</a:t>
                      </a:r>
                      <a:endParaRPr lang="en-US" sz="1400" dirty="0">
                        <a:latin typeface="DM Sans" charset="0"/>
                        <a:ea typeface="DM Sans" charset="0"/>
                        <a:cs typeface="DM Sans" charset="0"/>
                      </a:endParaRPr>
                    </a:p>
                  </a:txBody>
                  <a:tcPr marL="62230" marR="62230" marT="62230" marB="62230" anchor="t">
                    <a:lnL w="12700" cap="flat" cmpd="sng" algn="ctr">
                      <a:solidFill>
                        <a:srgbClr val="474C56"/>
                      </a:solidFill>
                      <a:prstDash val="solid"/>
                      <a:round/>
                      <a:headEnd type="none" w="med" len="med"/>
                      <a:tailEnd type="none" w="med" len="med"/>
                    </a:lnL>
                    <a:lnR w="12700" cap="flat" cmpd="sng" algn="ctr">
                      <a:solidFill>
                        <a:srgbClr val="474C56"/>
                      </a:solidFill>
                      <a:prstDash val="solid"/>
                      <a:round/>
                      <a:headEnd type="none" w="med" len="med"/>
                      <a:tailEnd type="none" w="med" len="med"/>
                    </a:lnR>
                    <a:lnT w="12700" cap="flat" cmpd="sng" algn="ctr">
                      <a:solidFill>
                        <a:srgbClr val="474C56"/>
                      </a:solidFill>
                      <a:prstDash val="solid"/>
                      <a:round/>
                      <a:headEnd type="none" w="med" len="med"/>
                      <a:tailEnd type="none" w="med" len="med"/>
                    </a:lnT>
                    <a:lnB w="12700" cap="flat" cmpd="sng" algn="ctr">
                      <a:solidFill>
                        <a:srgbClr val="474C5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D9B650"/>
                </a:solidFill>
                <a:latin typeface="DM Sans" pitchFamily="34" charset="0"/>
                <a:ea typeface="DM Sans" pitchFamily="34" charset="-122"/>
                <a:cs typeface="DM Sans" pitchFamily="34" charset="-120"/>
              </a:rPr>
              <a:t>HONEST LIMITS</a:t>
            </a:r>
            <a:endParaRPr lang="en-US" sz="1400" dirty="0"/>
          </a:p>
        </p:txBody>
      </p:sp>
      <p:sp>
        <p:nvSpPr>
          <p:cNvPr id="4" name="Text 2"/>
          <p:cNvSpPr/>
          <p:nvPr>
            <p:ph type="title"/>
          </p:nvPr>
        </p:nvSpPr>
        <p:spPr>
          <a:xfrm>
            <a:off x="812800" y="116332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What the numbers do not show</a:t>
            </a:r>
            <a:endParaRPr lang="en-US" sz="3800" dirty="0"/>
          </a:p>
        </p:txBody>
      </p:sp>
      <p:sp>
        <p:nvSpPr>
          <p:cNvPr id="5" name="Shape 3"/>
          <p:cNvSpPr/>
          <p:nvPr/>
        </p:nvSpPr>
        <p:spPr>
          <a:xfrm>
            <a:off x="815975" y="1951354"/>
            <a:ext cx="3397250" cy="1600200"/>
          </a:xfrm>
          <a:prstGeom prst="roundRect">
            <a:avLst>
              <a:gd name="adj" fmla="val 8532"/>
            </a:avLst>
          </a:prstGeom>
          <a:solidFill>
            <a:srgbClr val="FFFFFF">
              <a:alpha val="4000"/>
            </a:srgbClr>
          </a:solidFill>
          <a:ln w="6350">
            <a:solidFill>
              <a:srgbClr val="D9B650">
                <a:alpha val="30000"/>
              </a:srgbClr>
            </a:solidFill>
            <a:prstDash val="solid"/>
          </a:ln>
        </p:spPr>
      </p:sp>
      <p:sp>
        <p:nvSpPr>
          <p:cNvPr id="6" name="Text 4"/>
          <p:cNvSpPr/>
          <p:nvPr/>
        </p:nvSpPr>
        <p:spPr>
          <a:xfrm>
            <a:off x="1033780" y="2169164"/>
            <a:ext cx="3050489"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D9B650"/>
                </a:solidFill>
                <a:latin typeface="Space Grotesk" pitchFamily="34" charset="0"/>
                <a:ea typeface="Space Grotesk" pitchFamily="34" charset="-122"/>
                <a:cs typeface="Space Grotesk" pitchFamily="34" charset="-120"/>
              </a:rPr>
              <a:t>Small samples</a:t>
            </a:r>
            <a:endParaRPr lang="en-US" sz="1900" dirty="0"/>
          </a:p>
        </p:txBody>
      </p:sp>
      <p:sp>
        <p:nvSpPr>
          <p:cNvPr id="7" name="Text 5"/>
          <p:cNvSpPr/>
          <p:nvPr/>
        </p:nvSpPr>
        <p:spPr>
          <a:xfrm>
            <a:off x="1033780" y="2560321"/>
            <a:ext cx="305048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8F2"/>
                </a:solidFill>
                <a:latin typeface="DM Sans" pitchFamily="34" charset="0"/>
                <a:ea typeface="DM Sans" pitchFamily="34" charset="-122"/>
                <a:cs typeface="DM Sans" pitchFamily="34" charset="-120"/>
              </a:rPr>
              <a:t>Only 6 trials per attack. Zero fooled reports out of 36 does not prove zero risk.</a:t>
            </a:r>
            <a:endParaRPr lang="en-US" sz="1400" dirty="0"/>
          </a:p>
        </p:txBody>
      </p:sp>
      <p:sp>
        <p:nvSpPr>
          <p:cNvPr id="8" name="Shape 6"/>
          <p:cNvSpPr/>
          <p:nvPr/>
        </p:nvSpPr>
        <p:spPr>
          <a:xfrm>
            <a:off x="4397375" y="1951354"/>
            <a:ext cx="3397250" cy="1600200"/>
          </a:xfrm>
          <a:prstGeom prst="roundRect">
            <a:avLst>
              <a:gd name="adj" fmla="val 8532"/>
            </a:avLst>
          </a:prstGeom>
          <a:solidFill>
            <a:srgbClr val="FFFFFF">
              <a:alpha val="4000"/>
            </a:srgbClr>
          </a:solidFill>
          <a:ln w="6350">
            <a:solidFill>
              <a:srgbClr val="8FA8F0">
                <a:alpha val="30000"/>
              </a:srgbClr>
            </a:solidFill>
            <a:prstDash val="solid"/>
          </a:ln>
        </p:spPr>
      </p:sp>
      <p:sp>
        <p:nvSpPr>
          <p:cNvPr id="9" name="Text 7"/>
          <p:cNvSpPr/>
          <p:nvPr/>
        </p:nvSpPr>
        <p:spPr>
          <a:xfrm>
            <a:off x="4615180" y="2169164"/>
            <a:ext cx="3050489"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8FA8F0"/>
                </a:solidFill>
                <a:latin typeface="Space Grotesk" pitchFamily="34" charset="0"/>
                <a:ea typeface="Space Grotesk" pitchFamily="34" charset="-122"/>
                <a:cs typeface="Space Grotesk" pitchFamily="34" charset="-120"/>
              </a:rPr>
              <a:t>One model, planted data</a:t>
            </a:r>
            <a:endParaRPr lang="en-US" sz="1900" dirty="0"/>
          </a:p>
        </p:txBody>
      </p:sp>
      <p:sp>
        <p:nvSpPr>
          <p:cNvPr id="10" name="Text 8"/>
          <p:cNvSpPr/>
          <p:nvPr/>
        </p:nvSpPr>
        <p:spPr>
          <a:xfrm>
            <a:off x="4615180" y="2560321"/>
            <a:ext cx="305048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8F2"/>
                </a:solidFill>
                <a:latin typeface="DM Sans" pitchFamily="34" charset="0"/>
                <a:ea typeface="DM Sans" pitchFamily="34" charset="-122"/>
                <a:cs typeface="DM Sans" pitchFamily="34" charset="-120"/>
              </a:rPr>
              <a:t>Everything ran on one LLM with synthetic payloads. Treat the rates as indicative.</a:t>
            </a:r>
            <a:endParaRPr lang="en-US" sz="1400" dirty="0"/>
          </a:p>
        </p:txBody>
      </p:sp>
      <p:sp>
        <p:nvSpPr>
          <p:cNvPr id="11" name="Shape 9"/>
          <p:cNvSpPr/>
          <p:nvPr/>
        </p:nvSpPr>
        <p:spPr>
          <a:xfrm>
            <a:off x="7978775" y="1951354"/>
            <a:ext cx="3397250" cy="1600200"/>
          </a:xfrm>
          <a:prstGeom prst="roundRect">
            <a:avLst>
              <a:gd name="adj" fmla="val 8532"/>
            </a:avLst>
          </a:prstGeom>
          <a:solidFill>
            <a:srgbClr val="FFFFFF">
              <a:alpha val="4000"/>
            </a:srgbClr>
          </a:solidFill>
          <a:ln w="6350">
            <a:solidFill>
              <a:srgbClr val="5CCFC0">
                <a:alpha val="30000"/>
              </a:srgbClr>
            </a:solidFill>
            <a:prstDash val="solid"/>
          </a:ln>
        </p:spPr>
      </p:sp>
      <p:sp>
        <p:nvSpPr>
          <p:cNvPr id="12" name="Text 10"/>
          <p:cNvSpPr/>
          <p:nvPr/>
        </p:nvSpPr>
        <p:spPr>
          <a:xfrm>
            <a:off x="8196580" y="2169164"/>
            <a:ext cx="3050489"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5CCFC0"/>
                </a:solidFill>
                <a:latin typeface="Space Grotesk" pitchFamily="34" charset="0"/>
                <a:ea typeface="Space Grotesk" pitchFamily="34" charset="-122"/>
                <a:cs typeface="Space Grotesk" pitchFamily="34" charset="-120"/>
              </a:rPr>
              <a:t>Citations are not truth</a:t>
            </a:r>
            <a:endParaRPr lang="en-US" sz="1900" dirty="0"/>
          </a:p>
        </p:txBody>
      </p:sp>
      <p:sp>
        <p:nvSpPr>
          <p:cNvPr id="13" name="Text 11"/>
          <p:cNvSpPr/>
          <p:nvPr/>
        </p:nvSpPr>
        <p:spPr>
          <a:xfrm>
            <a:off x="8196580" y="2560321"/>
            <a:ext cx="305048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8F2"/>
                </a:solidFill>
                <a:latin typeface="DM Sans" pitchFamily="34" charset="0"/>
                <a:ea typeface="DM Sans" pitchFamily="34" charset="-122"/>
                <a:cs typeface="DM Sans" pitchFamily="34" charset="-120"/>
              </a:rPr>
              <a:t>The check proves a cited finding exists, not that the sentence about it is right.</a:t>
            </a:r>
            <a:endParaRPr lang="en-US" sz="1400" dirty="0"/>
          </a:p>
        </p:txBody>
      </p:sp>
      <p:sp>
        <p:nvSpPr>
          <p:cNvPr id="14" name="Text 12"/>
          <p:cNvSpPr/>
          <p:nvPr/>
        </p:nvSpPr>
        <p:spPr>
          <a:xfrm>
            <a:off x="812800" y="6024879"/>
            <a:ext cx="104648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B0"/>
                </a:solidFill>
                <a:latin typeface="DM Sans" pitchFamily="34" charset="0"/>
                <a:ea typeface="DM Sans" pitchFamily="34" charset="-122"/>
                <a:cs typeface="DM Sans" pitchFamily="34" charset="-120"/>
              </a:rPr>
              <a:t>The validator flags real reports too: the Windows 11 report is at 72% of claims cited, and a cut-off Windows 7 report was caught before we fixed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0A12"/>
              </a:gs>
              <a:gs pos="55000">
                <a:srgbClr val="0B1020"/>
              </a:gs>
              <a:gs pos="100000">
                <a:srgbClr val="101830"/>
              </a:gs>
            </a:gsLst>
            <a:lin ang="27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5CCFC0"/>
                </a:solidFill>
                <a:latin typeface="DM Sans" pitchFamily="34" charset="0"/>
                <a:ea typeface="DM Sans" pitchFamily="34" charset="-122"/>
                <a:cs typeface="DM Sans" pitchFamily="34" charset="-120"/>
              </a:rPr>
              <a:t>NEXT</a:t>
            </a:r>
            <a:endParaRPr lang="en-US" sz="1400" dirty="0"/>
          </a:p>
        </p:txBody>
      </p:sp>
      <p:sp>
        <p:nvSpPr>
          <p:cNvPr id="4" name="Text 2"/>
          <p:cNvSpPr/>
          <p:nvPr>
            <p:ph type="title"/>
          </p:nvPr>
        </p:nvSpPr>
        <p:spPr>
          <a:xfrm>
            <a:off x="812800" y="116332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4E8F2"/>
                </a:solidFill>
                <a:latin typeface="Space Grotesk" pitchFamily="34" charset="0"/>
                <a:ea typeface="Space Grotesk" pitchFamily="34" charset="-122"/>
                <a:cs typeface="Space Grotesk" pitchFamily="34" charset="-120"/>
              </a:rPr>
              <a:t>Yet to do</a:t>
            </a:r>
            <a:endParaRPr lang="en-US" sz="3800" dirty="0"/>
          </a:p>
        </p:txBody>
      </p:sp>
      <p:sp>
        <p:nvSpPr>
          <p:cNvPr id="5" name="Shape 3"/>
          <p:cNvSpPr/>
          <p:nvPr/>
        </p:nvSpPr>
        <p:spPr>
          <a:xfrm>
            <a:off x="815975" y="1951354"/>
            <a:ext cx="3397250" cy="1517650"/>
          </a:xfrm>
          <a:prstGeom prst="roundRect">
            <a:avLst>
              <a:gd name="adj" fmla="val 8159"/>
            </a:avLst>
          </a:prstGeom>
          <a:solidFill>
            <a:srgbClr val="FFFFFF">
              <a:alpha val="5000"/>
            </a:srgbClr>
          </a:solidFill>
          <a:ln w="6350">
            <a:solidFill>
              <a:srgbClr val="FFFFFF">
                <a:alpha val="9000"/>
              </a:srgbClr>
            </a:solidFill>
            <a:prstDash val="solid"/>
          </a:ln>
        </p:spPr>
      </p:sp>
      <p:sp>
        <p:nvSpPr>
          <p:cNvPr id="6" name="Text 4"/>
          <p:cNvSpPr/>
          <p:nvPr/>
        </p:nvSpPr>
        <p:spPr>
          <a:xfrm>
            <a:off x="1021080" y="21564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CCFC0"/>
                </a:solidFill>
                <a:latin typeface="DM Sans" pitchFamily="34" charset="0"/>
                <a:ea typeface="DM Sans" pitchFamily="34" charset="-122"/>
                <a:cs typeface="DM Sans" pitchFamily="34" charset="-120"/>
              </a:rPr>
              <a:t>Ground-truth crypto test</a:t>
            </a:r>
            <a:endParaRPr lang="en-US" sz="1600" dirty="0"/>
          </a:p>
        </p:txBody>
      </p:sp>
      <p:sp>
        <p:nvSpPr>
          <p:cNvPr id="7" name="Text 5"/>
          <p:cNvSpPr/>
          <p:nvPr/>
        </p:nvSpPr>
        <p:spPr>
          <a:xfrm>
            <a:off x="1021080" y="2517142"/>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Our own VM and known keys: measure what we find and the false alarms</a:t>
            </a:r>
            <a:endParaRPr lang="en-US" sz="1400" dirty="0"/>
          </a:p>
        </p:txBody>
      </p:sp>
      <p:sp>
        <p:nvSpPr>
          <p:cNvPr id="8" name="Shape 6"/>
          <p:cNvSpPr/>
          <p:nvPr/>
        </p:nvSpPr>
        <p:spPr>
          <a:xfrm>
            <a:off x="4397375" y="1951354"/>
            <a:ext cx="3397250" cy="1517650"/>
          </a:xfrm>
          <a:prstGeom prst="roundRect">
            <a:avLst>
              <a:gd name="adj" fmla="val 8159"/>
            </a:avLst>
          </a:prstGeom>
          <a:solidFill>
            <a:srgbClr val="FFFFFF">
              <a:alpha val="5000"/>
            </a:srgbClr>
          </a:solidFill>
          <a:ln w="6350">
            <a:solidFill>
              <a:srgbClr val="FFFFFF">
                <a:alpha val="9000"/>
              </a:srgbClr>
            </a:solidFill>
            <a:prstDash val="solid"/>
          </a:ln>
        </p:spPr>
      </p:sp>
      <p:sp>
        <p:nvSpPr>
          <p:cNvPr id="9" name="Text 7"/>
          <p:cNvSpPr/>
          <p:nvPr/>
        </p:nvSpPr>
        <p:spPr>
          <a:xfrm>
            <a:off x="4602480" y="21564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FA8F0"/>
                </a:solidFill>
                <a:latin typeface="DM Sans" pitchFamily="34" charset="0"/>
                <a:ea typeface="DM Sans" pitchFamily="34" charset="-122"/>
                <a:cs typeface="DM Sans" pitchFamily="34" charset="-120"/>
              </a:rPr>
              <a:t>More public dumps</a:t>
            </a:r>
            <a:endParaRPr lang="en-US" sz="1600" dirty="0"/>
          </a:p>
        </p:txBody>
      </p:sp>
      <p:sp>
        <p:nvSpPr>
          <p:cNvPr id="10" name="Text 8"/>
          <p:cNvSpPr/>
          <p:nvPr/>
        </p:nvSpPr>
        <p:spPr>
          <a:xfrm>
            <a:off x="4602480" y="2517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Ransomware-style Windows 10 or 11, and a Windows Server image</a:t>
            </a:r>
            <a:endParaRPr lang="en-US" sz="1400" dirty="0"/>
          </a:p>
        </p:txBody>
      </p:sp>
      <p:sp>
        <p:nvSpPr>
          <p:cNvPr id="11" name="Shape 9"/>
          <p:cNvSpPr/>
          <p:nvPr/>
        </p:nvSpPr>
        <p:spPr>
          <a:xfrm>
            <a:off x="7978775" y="1951354"/>
            <a:ext cx="3397250" cy="1517650"/>
          </a:xfrm>
          <a:prstGeom prst="roundRect">
            <a:avLst>
              <a:gd name="adj" fmla="val 8159"/>
            </a:avLst>
          </a:prstGeom>
          <a:solidFill>
            <a:srgbClr val="FFFFFF">
              <a:alpha val="5000"/>
            </a:srgbClr>
          </a:solidFill>
          <a:ln w="6350">
            <a:solidFill>
              <a:srgbClr val="FFFFFF">
                <a:alpha val="9000"/>
              </a:srgbClr>
            </a:solidFill>
            <a:prstDash val="solid"/>
          </a:ln>
        </p:spPr>
      </p:sp>
      <p:sp>
        <p:nvSpPr>
          <p:cNvPr id="12" name="Text 10"/>
          <p:cNvSpPr/>
          <p:nvPr/>
        </p:nvSpPr>
        <p:spPr>
          <a:xfrm>
            <a:off x="8183880" y="21564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650"/>
                </a:solidFill>
                <a:latin typeface="DM Sans" pitchFamily="34" charset="0"/>
                <a:ea typeface="DM Sans" pitchFamily="34" charset="-122"/>
                <a:cs typeface="DM Sans" pitchFamily="34" charset="-120"/>
              </a:rPr>
              <a:t>Stronger red team</a:t>
            </a:r>
            <a:endParaRPr lang="en-US" sz="1600" dirty="0"/>
          </a:p>
        </p:txBody>
      </p:sp>
      <p:sp>
        <p:nvSpPr>
          <p:cNvPr id="13" name="Text 11"/>
          <p:cNvSpPr/>
          <p:nvPr/>
        </p:nvSpPr>
        <p:spPr>
          <a:xfrm>
            <a:off x="8183880" y="2517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Harder attacks, more trials, a second LLM</a:t>
            </a:r>
            <a:endParaRPr lang="en-US" sz="1400" dirty="0"/>
          </a:p>
        </p:txBody>
      </p:sp>
      <p:sp>
        <p:nvSpPr>
          <p:cNvPr id="14" name="Shape 12"/>
          <p:cNvSpPr/>
          <p:nvPr/>
        </p:nvSpPr>
        <p:spPr>
          <a:xfrm>
            <a:off x="815975" y="3653154"/>
            <a:ext cx="3397250" cy="1268730"/>
          </a:xfrm>
          <a:prstGeom prst="roundRect">
            <a:avLst>
              <a:gd name="adj" fmla="val 9760"/>
            </a:avLst>
          </a:prstGeom>
          <a:solidFill>
            <a:srgbClr val="FFFFFF">
              <a:alpha val="5000"/>
            </a:srgbClr>
          </a:solidFill>
          <a:ln w="6350">
            <a:solidFill>
              <a:srgbClr val="FFFFFF">
                <a:alpha val="9000"/>
              </a:srgbClr>
            </a:solidFill>
            <a:prstDash val="solid"/>
          </a:ln>
        </p:spPr>
      </p:sp>
      <p:sp>
        <p:nvSpPr>
          <p:cNvPr id="15" name="Text 13"/>
          <p:cNvSpPr/>
          <p:nvPr/>
        </p:nvSpPr>
        <p:spPr>
          <a:xfrm>
            <a:off x="1021080" y="38582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CCFC0"/>
                </a:solidFill>
                <a:latin typeface="DM Sans" pitchFamily="34" charset="0"/>
                <a:ea typeface="DM Sans" pitchFamily="34" charset="-122"/>
                <a:cs typeface="DM Sans" pitchFamily="34" charset="-120"/>
              </a:rPr>
              <a:t>Final report</a:t>
            </a:r>
            <a:endParaRPr lang="en-US" sz="1600" dirty="0"/>
          </a:p>
        </p:txBody>
      </p:sp>
      <p:sp>
        <p:nvSpPr>
          <p:cNvPr id="16" name="Text 14"/>
          <p:cNvSpPr/>
          <p:nvPr/>
        </p:nvSpPr>
        <p:spPr>
          <a:xfrm>
            <a:off x="1021080" y="42189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Method, results and limits written up</a:t>
            </a:r>
            <a:endParaRPr lang="en-US" sz="1400" dirty="0"/>
          </a:p>
        </p:txBody>
      </p:sp>
      <p:sp>
        <p:nvSpPr>
          <p:cNvPr id="17" name="Shape 15"/>
          <p:cNvSpPr/>
          <p:nvPr/>
        </p:nvSpPr>
        <p:spPr>
          <a:xfrm>
            <a:off x="4397375" y="3653154"/>
            <a:ext cx="3397250" cy="1268730"/>
          </a:xfrm>
          <a:prstGeom prst="roundRect">
            <a:avLst>
              <a:gd name="adj" fmla="val 9760"/>
            </a:avLst>
          </a:prstGeom>
          <a:solidFill>
            <a:srgbClr val="FFFFFF">
              <a:alpha val="5000"/>
            </a:srgbClr>
          </a:solidFill>
          <a:ln w="6350">
            <a:solidFill>
              <a:srgbClr val="FFFFFF">
                <a:alpha val="9000"/>
              </a:srgbClr>
            </a:solidFill>
            <a:prstDash val="solid"/>
          </a:ln>
        </p:spPr>
      </p:sp>
      <p:sp>
        <p:nvSpPr>
          <p:cNvPr id="18" name="Text 16"/>
          <p:cNvSpPr/>
          <p:nvPr/>
        </p:nvSpPr>
        <p:spPr>
          <a:xfrm>
            <a:off x="4602480" y="38582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FA8F0"/>
                </a:solidFill>
                <a:latin typeface="DM Sans" pitchFamily="34" charset="0"/>
                <a:ea typeface="DM Sans" pitchFamily="34" charset="-122"/>
                <a:cs typeface="DM Sans" pitchFamily="34" charset="-120"/>
              </a:rPr>
              <a:t>Post-quantum paragraph</a:t>
            </a:r>
            <a:endParaRPr lang="en-US" sz="1600" dirty="0"/>
          </a:p>
        </p:txBody>
      </p:sp>
      <p:sp>
        <p:nvSpPr>
          <p:cNvPr id="19" name="Text 17"/>
          <p:cNvSpPr/>
          <p:nvPr/>
        </p:nvSpPr>
        <p:spPr>
          <a:xfrm>
            <a:off x="4602480" y="42189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ML-KEM and ML-DSA, a discussion paragraph only</a:t>
            </a:r>
            <a:endParaRPr lang="en-US" sz="1400" dirty="0"/>
          </a:p>
        </p:txBody>
      </p:sp>
      <p:sp>
        <p:nvSpPr>
          <p:cNvPr id="20" name="Shape 18"/>
          <p:cNvSpPr/>
          <p:nvPr/>
        </p:nvSpPr>
        <p:spPr>
          <a:xfrm>
            <a:off x="7978775" y="3653154"/>
            <a:ext cx="3397250" cy="1268730"/>
          </a:xfrm>
          <a:prstGeom prst="roundRect">
            <a:avLst>
              <a:gd name="adj" fmla="val 9760"/>
            </a:avLst>
          </a:prstGeom>
          <a:solidFill>
            <a:srgbClr val="FFFFFF">
              <a:alpha val="5000"/>
            </a:srgbClr>
          </a:solidFill>
          <a:ln w="6350">
            <a:solidFill>
              <a:srgbClr val="FFFFFF">
                <a:alpha val="9000"/>
              </a:srgbClr>
            </a:solidFill>
            <a:prstDash val="solid"/>
          </a:ln>
        </p:spPr>
      </p:sp>
      <p:sp>
        <p:nvSpPr>
          <p:cNvPr id="21" name="Text 19"/>
          <p:cNvSpPr/>
          <p:nvPr/>
        </p:nvSpPr>
        <p:spPr>
          <a:xfrm>
            <a:off x="8183880" y="3858264"/>
            <a:ext cx="30766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650"/>
                </a:solidFill>
                <a:latin typeface="DM Sans" pitchFamily="34" charset="0"/>
                <a:ea typeface="DM Sans" pitchFamily="34" charset="-122"/>
                <a:cs typeface="DM Sans" pitchFamily="34" charset="-120"/>
              </a:rPr>
              <a:t>Optional, later</a:t>
            </a:r>
            <a:endParaRPr lang="en-US" sz="1600" dirty="0"/>
          </a:p>
        </p:txBody>
      </p:sp>
      <p:sp>
        <p:nvSpPr>
          <p:cNvPr id="22" name="Text 20"/>
          <p:cNvSpPr/>
          <p:nvPr/>
        </p:nvSpPr>
        <p:spPr>
          <a:xfrm>
            <a:off x="8183880" y="42189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BDD6"/>
                </a:solidFill>
                <a:latin typeface="DM Sans" pitchFamily="34" charset="0"/>
                <a:ea typeface="DM Sans" pitchFamily="34" charset="-122"/>
                <a:cs typeface="DM Sans" pitchFamily="34" charset="-120"/>
              </a:rPr>
              <a:t>Run from the dashboard, and Linux and macOS memory support</a:t>
            </a:r>
            <a:endParaRPr lang="en-US" sz="1400" dirty="0"/>
          </a:p>
        </p:txBody>
      </p:sp>
      <p:sp>
        <p:nvSpPr>
          <p:cNvPr id="23" name="Shape 21"/>
          <p:cNvSpPr/>
          <p:nvPr/>
        </p:nvSpPr>
        <p:spPr>
          <a:xfrm>
            <a:off x="812800" y="5179064"/>
            <a:ext cx="1651000" cy="50800"/>
          </a:xfrm>
          <a:prstGeom prst="roundRect">
            <a:avLst>
              <a:gd name="adj" fmla="val 50000"/>
            </a:avLst>
          </a:prstGeom>
          <a:gradFill rotWithShape="1">
            <a:gsLst>
              <a:gs pos="0">
                <a:srgbClr val="5CCFC0"/>
              </a:gs>
              <a:gs pos="100000">
                <a:srgbClr val="8FA8F0"/>
              </a:gs>
            </a:gsLst>
            <a:lin ang="0" scaled="0"/>
          </a:gradFill>
          <a:ln/>
        </p:spPr>
      </p:sp>
    </p:spTree>
  </p:cSld>
  <p:clrMapOvr>
    <a:masterClrMapping/>
  </p:clrMapOvr>
</p:sld>
</file>

<file path=ppt/theme/theme1.xml><?xml version="1.0" encoding="utf-8"?>
<a:theme xmlns:a="http://schemas.openxmlformats.org/drawingml/2006/main" name="TriageGuard Progress Evaluation">
  <a:themeElements>
    <a:clrScheme name="TriageGuard Progress Evaluation">
      <a:dk1>
        <a:srgbClr val="070A12"/>
      </a:dk1>
      <a:lt1>
        <a:srgbClr val="FAF9F5"/>
      </a:lt1>
      <a:dk2>
        <a:srgbClr val="1F2229"/>
      </a:dk2>
      <a:lt2>
        <a:srgbClr val="BDBDBC"/>
      </a:lt2>
      <a:accent1>
        <a:srgbClr val="5CCFC0"/>
      </a:accent1>
      <a:accent2>
        <a:srgbClr val="8FA8F0"/>
      </a:accent2>
      <a:accent3>
        <a:srgbClr val="D9B650"/>
      </a:accent3>
      <a:accent4>
        <a:srgbClr val="13213D"/>
      </a:accent4>
      <a:accent5>
        <a:srgbClr val="B4BDD6"/>
      </a:accent5>
      <a:accent6>
        <a:srgbClr val="101830"/>
      </a:accent6>
      <a:hlink>
        <a:srgbClr val="0563C1"/>
      </a:hlink>
      <a:folHlink>
        <a:srgbClr val="954F72"/>
      </a:folHlink>
    </a:clrScheme>
    <a:fontScheme name="TriageGuard Progress Evalu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TriageGuard Progress Evaluation</dc:title>
  <dc:subject/>
  <dc:creator/>
  <cp:lastModifiedBy/>
  <cp:revision>1</cp:revision>
  <dcterms:created xsi:type="dcterms:W3CDTF">2026-10-06T19:59:28Z</dcterms:created>
  <dcterms:modified xsi:type="dcterms:W3CDTF">2026-10-06T19:59:28Z</dcterms:modified>
</cp:coreProperties>
</file>